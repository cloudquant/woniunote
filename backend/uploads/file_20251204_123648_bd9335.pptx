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7" id="2147483660"/>
  </p:sldMasterIdLst>
  <p:notesMasterIdLst>
    <p:notesMasterId r:id="rId8"/>
  </p:notesMasterIdLst>
  <p:sldIdLst>
    <p:sldId r:id="rId9" id="257"/>
    <p:sldId r:id="rId10" id="258"/>
    <p:sldId r:id="rId11" id="259"/>
    <p:sldId r:id="rId12" id="260"/>
    <p:sldId r:id="rId13" id="261"/>
    <p:sldId r:id="rId14" id="262"/>
    <p:sldId r:id="rId15" id="263"/>
    <p:sldId r:id="rId16" id="264"/>
    <p:sldId r:id="rId17" id="265"/>
    <p:sldId r:id="rId18" id="266"/>
    <p:sldId r:id="rId19" id="267"/>
    <p:sldId r:id="rId20" id="268"/>
    <p:sldId r:id="rId21" id="269"/>
    <p:sldId r:id="rId22" id="270"/>
    <p:sldId r:id="rId23" id="271"/>
    <p:sldId r:id="rId24" id="272"/>
    <p:sldId r:id="rId25" id="273"/>
    <p:sldId r:id="rId26" id="274"/>
    <p:sldId r:id="rId27" id="275"/>
    <p:sldId r:id="rId28" id="276"/>
    <p:sldId r:id="rId29" id="277"/>
    <p:sldId r:id="rId30" id="278"/>
    <p:sldId r:id="rId31" id="279"/>
    <p:sldId r:id="rId32" id="280"/>
    <p:sldId r:id="rId33" id="281"/>
    <p:sldId r:id="rId34" id="282"/>
    <p:sldId r:id="rId35" id="283"/>
    <p:sldId r:id="rId36" id="284"/>
    <p:sldId r:id="rId37" id="285"/>
    <p:sldId r:id="rId38" id="286"/>
    <p:sldId r:id="rId39" id="287"/>
    <p:sldId r:id="rId40" id="288"/>
  </p:sldIdLst>
  <p:sldSz cx="7620000" cy="4286250"/>
  <p:notesSz cx="6858000" cy="9144000"/>
  <p:custDataLst>
    <p:tags r:id="rId41"/>
  </p:custDataLst>
  <p:defaultTextStyle>
    <a:defPPr>
      <a:defRPr lang="en-US"/>
    </a:defPPr>
    <a:lvl1pPr marL="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12" Type="http://schemas.openxmlformats.org/officeDocument/2006/relationships/slide" Target="slides/slide4.xml" /><Relationship Id="rId13" Type="http://schemas.openxmlformats.org/officeDocument/2006/relationships/slide" Target="slides/slide5.xml" /><Relationship Id="rId14" Type="http://schemas.openxmlformats.org/officeDocument/2006/relationships/slide" Target="slides/slide6.xml" /><Relationship Id="rId15" Type="http://schemas.openxmlformats.org/officeDocument/2006/relationships/slide" Target="slides/slide7.xml" /><Relationship Id="rId16" Type="http://schemas.openxmlformats.org/officeDocument/2006/relationships/slide" Target="slides/slide8.xml" /><Relationship Id="rId17" Type="http://schemas.openxmlformats.org/officeDocument/2006/relationships/slide" Target="slides/slide9.xml" /><Relationship Id="rId18" Type="http://schemas.openxmlformats.org/officeDocument/2006/relationships/slide" Target="slides/slide10.xml" /><Relationship Id="rId19" Type="http://schemas.openxmlformats.org/officeDocument/2006/relationships/slide" Target="slides/slide11.xml" /><Relationship Id="rId20" Type="http://schemas.openxmlformats.org/officeDocument/2006/relationships/slide" Target="slides/slide12.xml" /><Relationship Id="rId21" Type="http://schemas.openxmlformats.org/officeDocument/2006/relationships/slide" Target="slides/slide13.xml" /><Relationship Id="rId22" Type="http://schemas.openxmlformats.org/officeDocument/2006/relationships/slide" Target="slides/slide14.xml" /><Relationship Id="rId23" Type="http://schemas.openxmlformats.org/officeDocument/2006/relationships/slide" Target="slides/slide15.xml" /><Relationship Id="rId24" Type="http://schemas.openxmlformats.org/officeDocument/2006/relationships/slide" Target="slides/slide16.xml" /><Relationship Id="rId25" Type="http://schemas.openxmlformats.org/officeDocument/2006/relationships/slide" Target="slides/slide17.xml" /><Relationship Id="rId26" Type="http://schemas.openxmlformats.org/officeDocument/2006/relationships/slide" Target="slides/slide18.xml" /><Relationship Id="rId27" Type="http://schemas.openxmlformats.org/officeDocument/2006/relationships/slide" Target="slides/slide19.xml" /><Relationship Id="rId28" Type="http://schemas.openxmlformats.org/officeDocument/2006/relationships/slide" Target="slides/slide20.xml" /><Relationship Id="rId29" Type="http://schemas.openxmlformats.org/officeDocument/2006/relationships/slide" Target="slides/slide21.xml" /><Relationship Id="rId3" Type="http://schemas.openxmlformats.org/officeDocument/2006/relationships/presProps" Target="presProps.xml" /><Relationship Id="rId30" Type="http://schemas.openxmlformats.org/officeDocument/2006/relationships/slide" Target="slides/slide22.xml" /><Relationship Id="rId31" Type="http://schemas.openxmlformats.org/officeDocument/2006/relationships/slide" Target="slides/slide23.xml" /><Relationship Id="rId32" Type="http://schemas.openxmlformats.org/officeDocument/2006/relationships/slide" Target="slides/slide24.xml" /><Relationship Id="rId33" Type="http://schemas.openxmlformats.org/officeDocument/2006/relationships/slide" Target="slides/slide25.xml" /><Relationship Id="rId34" Type="http://schemas.openxmlformats.org/officeDocument/2006/relationships/slide" Target="slides/slide26.xml" /><Relationship Id="rId35" Type="http://schemas.openxmlformats.org/officeDocument/2006/relationships/slide" Target="slides/slide27.xml" /><Relationship Id="rId36" Type="http://schemas.openxmlformats.org/officeDocument/2006/relationships/slide" Target="slides/slide28.xml" /><Relationship Id="rId37" Type="http://schemas.openxmlformats.org/officeDocument/2006/relationships/slide" Target="slides/slide29.xml" /><Relationship Id="rId38" Type="http://schemas.openxmlformats.org/officeDocument/2006/relationships/slide" Target="slides/slide30.xml" /><Relationship Id="rId39" Type="http://schemas.openxmlformats.org/officeDocument/2006/relationships/slide" Target="slides/slide31.xml" /><Relationship Id="rId4" Type="http://schemas.openxmlformats.org/officeDocument/2006/relationships/viewProps" Target="viewProps.xml" /><Relationship Id="rId40" Type="http://schemas.openxmlformats.org/officeDocument/2006/relationships/slide" Target="slides/slide32.xml" /><Relationship Id="rId41" Type="http://schemas.openxmlformats.org/officeDocument/2006/relationships/tags" Target="tags/tag1.xml" /><Relationship Id="rId5" Type="http://schemas.openxmlformats.org/officeDocument/2006/relationships/theme" Target="theme/theme3.xml" /><Relationship Id="rId6" Type="http://schemas.openxmlformats.org/officeDocument/2006/relationships/tableStyles" Target="tableStyles.xml" /><Relationship Id="rId7" Type="http://schemas.openxmlformats.org/officeDocument/2006/relationships/slideMaster" Target="slideMasters/slideMaster2.xml" /><Relationship Id="rId8" Type="http://schemas.openxmlformats.org/officeDocument/2006/relationships/notesMaster" Target="notesMasters/notesMaster1.xml" /><Relationship Id="rId9" Type="http://schemas.openxmlformats.org/officeDocument/2006/relationships/slide" Target="slides/slide1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vert="horz" lIns="91440" tIns="45720" rIns="91440" bIns="45720" rtlCol="0"/>
          <a:lstStyle/>
          <a:p>
            <a:pPr lvl="0"/>
            <a:r>
              <a:rPr lang="en-US" dirty="1"/>
              <a:t>Click to edit Master text styles</a:t>
            </a:r>
          </a:p>
          <a:p>
            <a:pPr lvl="1"/>
            <a:r>
              <a:rPr lang="en-US" dirty="1"/>
              <a:t>Second level</a:t>
            </a:r>
          </a:p>
          <a:p>
            <a:pPr lvl="2"/>
            <a:r>
              <a:rPr lang="en-US" dirty="1"/>
              <a:t>Third level</a:t>
            </a:r>
          </a:p>
          <a:p>
            <a:pPr lvl="3"/>
            <a:r>
              <a:rPr lang="en-US" dirty="1"/>
              <a:t>Fourth level</a:t>
            </a:r>
          </a:p>
          <a:p>
            <a:pPr lvl="4"/>
            <a:r>
              <a:rPr lang="en-US" dirty="1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3972719"/>
            <a:ext cx="1778000" cy="228203"/>
          </a:xfrm>
        </p:spPr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03500" y="3972719"/>
            <a:ext cx="2413000" cy="2282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61000" y="3972719"/>
            <a:ext cx="1778000" cy="228203"/>
          </a:xfrm>
        </p:spPr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2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4.png" /><Relationship Id="rId11" Type="http://schemas.openxmlformats.org/officeDocument/2006/relationships/image" Target="../media/image16.png" /><Relationship Id="rId12" Type="http://schemas.openxmlformats.org/officeDocument/2006/relationships/image" Target="../media/image11.png" /><Relationship Id="rId13" Type="http://schemas.openxmlformats.org/officeDocument/2006/relationships/image" Target="../media/image6.png" /><Relationship Id="rId14" Type="http://schemas.openxmlformats.org/officeDocument/2006/relationships/slideLayout" Target="../slideLayouts/slideLayout12.xml" /><Relationship Id="rId15" Type="http://schemas.openxmlformats.org/officeDocument/2006/relationships/notesSlide" Target="../notesSlides/notesSlide4.xml" /><Relationship Id="rId2" Type="http://schemas.openxmlformats.org/officeDocument/2006/relationships/image" Target="../media/image15.png" /><Relationship Id="rId3" Type="http://schemas.openxmlformats.org/officeDocument/2006/relationships/image" Target="../media/image13.png" /><Relationship Id="rId4" Type="http://schemas.openxmlformats.org/officeDocument/2006/relationships/image" Target="../media/image8.png" /><Relationship Id="rId5" Type="http://schemas.openxmlformats.org/officeDocument/2006/relationships/image" Target="../media/image12.png" /><Relationship Id="rId6" Type="http://schemas.openxmlformats.org/officeDocument/2006/relationships/image" Target="../media/image7.png" /><Relationship Id="rId7" Type="http://schemas.openxmlformats.org/officeDocument/2006/relationships/image" Target="../media/image9.png" /><Relationship Id="rId8" Type="http://schemas.openxmlformats.org/officeDocument/2006/relationships/image" Target="../media/image14.png" /><Relationship Id="rId9" Type="http://schemas.openxmlformats.org/officeDocument/2006/relationships/image" Target="../media/image10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slideLayout" Target="../slideLayouts/slideLayout12.xml" /><Relationship Id="rId11" Type="http://schemas.openxmlformats.org/officeDocument/2006/relationships/notesSlide" Target="../notesSlides/notesSlide5.xml" /><Relationship Id="rId2" Type="http://schemas.openxmlformats.org/officeDocument/2006/relationships/image" Target="../media/image18.png" /><Relationship Id="rId3" Type="http://schemas.openxmlformats.org/officeDocument/2006/relationships/image" Target="../media/image21.png" /><Relationship Id="rId5" Type="http://schemas.openxmlformats.org/officeDocument/2006/relationships/image" Target="../media/image19.png" /><Relationship Id="rId6" Type="http://schemas.openxmlformats.org/officeDocument/2006/relationships/image" Target="../media/image17.png" /><Relationship Id="rId8" Type="http://schemas.openxmlformats.org/officeDocument/2006/relationships/image" Target="../media/image22.png" /><Relationship Id="rId9" Type="http://schemas.openxmlformats.org/officeDocument/2006/relationships/image" Target="../media/image20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31.png" /><Relationship Id="rId11" Type="http://schemas.openxmlformats.org/officeDocument/2006/relationships/slideLayout" Target="../slideLayouts/slideLayout12.xml" /><Relationship Id="rId12" Type="http://schemas.openxmlformats.org/officeDocument/2006/relationships/notesSlide" Target="../notesSlides/notesSlide6.xml" /><Relationship Id="rId2" Type="http://schemas.openxmlformats.org/officeDocument/2006/relationships/image" Target="../media/image23.png" /><Relationship Id="rId3" Type="http://schemas.openxmlformats.org/officeDocument/2006/relationships/image" Target="../media/image28.png" /><Relationship Id="rId4" Type="http://schemas.openxmlformats.org/officeDocument/2006/relationships/image" Target="../media/image25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30.png" /><Relationship Id="rId9" Type="http://schemas.openxmlformats.org/officeDocument/2006/relationships/image" Target="../media/image2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slideLayout" Target="../slideLayouts/slideLayout12.xml" /><Relationship Id="rId11" Type="http://schemas.openxmlformats.org/officeDocument/2006/relationships/notesSlide" Target="../notesSlides/notesSlide8.xml" /><Relationship Id="rId2" Type="http://schemas.openxmlformats.org/officeDocument/2006/relationships/image" Target="../media/image39.png" /><Relationship Id="rId3" Type="http://schemas.openxmlformats.org/officeDocument/2006/relationships/image" Target="../media/image37.png" /><Relationship Id="rId4" Type="http://schemas.openxmlformats.org/officeDocument/2006/relationships/image" Target="../media/image34.png" /><Relationship Id="rId5" Type="http://schemas.openxmlformats.org/officeDocument/2006/relationships/image" Target="../media/image36.png" /><Relationship Id="rId6" Type="http://schemas.openxmlformats.org/officeDocument/2006/relationships/image" Target="../media/image33.png" /><Relationship Id="rId7" Type="http://schemas.openxmlformats.org/officeDocument/2006/relationships/image" Target="../media/image35.png" /><Relationship Id="rId8" Type="http://schemas.openxmlformats.org/officeDocument/2006/relationships/image" Target="../media/image32.png" /><Relationship Id="rId9" Type="http://schemas.openxmlformats.org/officeDocument/2006/relationships/image" Target="../media/image3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image" Target="../media/image41.png" /><Relationship Id="rId3" Type="http://schemas.openxmlformats.org/officeDocument/2006/relationships/image" Target="../media/image42.png" /><Relationship Id="rId4" Type="http://schemas.openxmlformats.org/officeDocument/2006/relationships/image" Target="../media/image43.png" /><Relationship Id="rId5" Type="http://schemas.openxmlformats.org/officeDocument/2006/relationships/image" Target="../media/image40.png" /><Relationship Id="rId6" Type="http://schemas.openxmlformats.org/officeDocument/2006/relationships/image" Target="../media/image44.png" /><Relationship Id="rId7" Type="http://schemas.openxmlformats.org/officeDocument/2006/relationships/slideLayout" Target="../slideLayouts/slideLayout12.xml" /><Relationship Id="rId8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46.png" /><Relationship Id="rId11" Type="http://schemas.openxmlformats.org/officeDocument/2006/relationships/image" Target="../media/image45.png" /><Relationship Id="rId12" Type="http://schemas.openxmlformats.org/officeDocument/2006/relationships/image" Target="../media/image53.png" /><Relationship Id="rId13" Type="http://schemas.openxmlformats.org/officeDocument/2006/relationships/image" Target="../media/image56.png" /><Relationship Id="rId14" Type="http://schemas.openxmlformats.org/officeDocument/2006/relationships/image" Target="../media/image51.png" /><Relationship Id="rId15" Type="http://schemas.openxmlformats.org/officeDocument/2006/relationships/slideLayout" Target="../slideLayouts/slideLayout12.xml" /><Relationship Id="rId16" Type="http://schemas.openxmlformats.org/officeDocument/2006/relationships/notesSlide" Target="../notesSlides/notesSlide10.xml" /><Relationship Id="rId2" Type="http://schemas.openxmlformats.org/officeDocument/2006/relationships/image" Target="../media/image47.png" /><Relationship Id="rId3" Type="http://schemas.openxmlformats.org/officeDocument/2006/relationships/image" Target="../media/image49.png" /><Relationship Id="rId4" Type="http://schemas.openxmlformats.org/officeDocument/2006/relationships/image" Target="../media/image48.png" /><Relationship Id="rId5" Type="http://schemas.openxmlformats.org/officeDocument/2006/relationships/image" Target="../media/image57.png" /><Relationship Id="rId6" Type="http://schemas.openxmlformats.org/officeDocument/2006/relationships/image" Target="../media/image55.png" /><Relationship Id="rId7" Type="http://schemas.openxmlformats.org/officeDocument/2006/relationships/image" Target="../media/image52.png" /><Relationship Id="rId8" Type="http://schemas.openxmlformats.org/officeDocument/2006/relationships/image" Target="../media/image50.png" /><Relationship Id="rId9" Type="http://schemas.openxmlformats.org/officeDocument/2006/relationships/image" Target="../media/image54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image" Target="../media/image59.png" /><Relationship Id="rId3" Type="http://schemas.openxmlformats.org/officeDocument/2006/relationships/image" Target="../media/image61.png" /><Relationship Id="rId4" Type="http://schemas.openxmlformats.org/officeDocument/2006/relationships/image" Target="../media/image60.png" /><Relationship Id="rId5" Type="http://schemas.openxmlformats.org/officeDocument/2006/relationships/image" Target="../media/image58.png" /><Relationship Id="rId6" Type="http://schemas.openxmlformats.org/officeDocument/2006/relationships/image" Target="../media/image62.png" /><Relationship Id="rId7" Type="http://schemas.openxmlformats.org/officeDocument/2006/relationships/slideLayout" Target="../slideLayouts/slideLayout12.xml" /><Relationship Id="rId8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slideLayout" Target="../slideLayouts/slideLayout12.xml" /><Relationship Id="rId11" Type="http://schemas.openxmlformats.org/officeDocument/2006/relationships/notesSlide" Target="../notesSlides/notesSlide13.xml" /><Relationship Id="rId2" Type="http://schemas.openxmlformats.org/officeDocument/2006/relationships/image" Target="../media/image65.png" /><Relationship Id="rId3" Type="http://schemas.openxmlformats.org/officeDocument/2006/relationships/image" Target="../media/image67.png" /><Relationship Id="rId4" Type="http://schemas.openxmlformats.org/officeDocument/2006/relationships/image" Target="../media/image66.png" /><Relationship Id="rId5" Type="http://schemas.openxmlformats.org/officeDocument/2006/relationships/image" Target="../media/image69.png" /><Relationship Id="rId6" Type="http://schemas.openxmlformats.org/officeDocument/2006/relationships/image" Target="../media/image68.png" /><Relationship Id="rId7" Type="http://schemas.openxmlformats.org/officeDocument/2006/relationships/image" Target="../media/image64.png" /><Relationship Id="rId8" Type="http://schemas.openxmlformats.org/officeDocument/2006/relationships/image" Target="../media/image70.png" /><Relationship Id="rId9" Type="http://schemas.openxmlformats.org/officeDocument/2006/relationships/image" Target="../media/image6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slideLayout" Target="../slideLayouts/slideLayout12.xml" /><Relationship Id="rId11" Type="http://schemas.openxmlformats.org/officeDocument/2006/relationships/notesSlide" Target="../notesSlides/notesSlide14.xml" /><Relationship Id="rId2" Type="http://schemas.openxmlformats.org/officeDocument/2006/relationships/image" Target="../media/image78.png" /><Relationship Id="rId3" Type="http://schemas.openxmlformats.org/officeDocument/2006/relationships/image" Target="../media/image73.png" /><Relationship Id="rId4" Type="http://schemas.openxmlformats.org/officeDocument/2006/relationships/image" Target="../media/image75.png" /><Relationship Id="rId5" Type="http://schemas.openxmlformats.org/officeDocument/2006/relationships/image" Target="../media/image76.png" /><Relationship Id="rId6" Type="http://schemas.openxmlformats.org/officeDocument/2006/relationships/image" Target="../media/image72.png" /><Relationship Id="rId7" Type="http://schemas.openxmlformats.org/officeDocument/2006/relationships/image" Target="../media/image71.png" /><Relationship Id="rId8" Type="http://schemas.openxmlformats.org/officeDocument/2006/relationships/image" Target="../media/image77.png" /><Relationship Id="rId9" Type="http://schemas.openxmlformats.org/officeDocument/2006/relationships/image" Target="../media/image7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86.png" /><Relationship Id="rId11" Type="http://schemas.openxmlformats.org/officeDocument/2006/relationships/slideLayout" Target="../slideLayouts/slideLayout12.xml" /><Relationship Id="rId12" Type="http://schemas.openxmlformats.org/officeDocument/2006/relationships/notesSlide" Target="../notesSlides/notesSlide16.xml" /><Relationship Id="rId2" Type="http://schemas.openxmlformats.org/officeDocument/2006/relationships/image" Target="../media/image83.png" /><Relationship Id="rId3" Type="http://schemas.openxmlformats.org/officeDocument/2006/relationships/image" Target="../media/image80.png" /><Relationship Id="rId4" Type="http://schemas.openxmlformats.org/officeDocument/2006/relationships/image" Target="../media/image84.png" /><Relationship Id="rId5" Type="http://schemas.openxmlformats.org/officeDocument/2006/relationships/image" Target="../media/image87.png" /><Relationship Id="rId6" Type="http://schemas.openxmlformats.org/officeDocument/2006/relationships/image" Target="../media/image81.png" /><Relationship Id="rId7" Type="http://schemas.openxmlformats.org/officeDocument/2006/relationships/image" Target="../media/image82.png" /><Relationship Id="rId8" Type="http://schemas.openxmlformats.org/officeDocument/2006/relationships/image" Target="../media/image85.png" /><Relationship Id="rId9" Type="http://schemas.openxmlformats.org/officeDocument/2006/relationships/image" Target="../media/image79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92.png" /><Relationship Id="rId11" Type="http://schemas.openxmlformats.org/officeDocument/2006/relationships/image" Target="../media/image96.png" /><Relationship Id="rId12" Type="http://schemas.openxmlformats.org/officeDocument/2006/relationships/image" Target="../media/image95.png" /><Relationship Id="rId13" Type="http://schemas.openxmlformats.org/officeDocument/2006/relationships/image" Target="../media/image97.png" /><Relationship Id="rId14" Type="http://schemas.openxmlformats.org/officeDocument/2006/relationships/image" Target="../media/image99.png" /><Relationship Id="rId15" Type="http://schemas.openxmlformats.org/officeDocument/2006/relationships/slideLayout" Target="../slideLayouts/slideLayout12.xml" /><Relationship Id="rId16" Type="http://schemas.openxmlformats.org/officeDocument/2006/relationships/notesSlide" Target="../notesSlides/notesSlide17.xml" /><Relationship Id="rId2" Type="http://schemas.openxmlformats.org/officeDocument/2006/relationships/image" Target="../media/image89.png" /><Relationship Id="rId3" Type="http://schemas.openxmlformats.org/officeDocument/2006/relationships/image" Target="../media/image100.png" /><Relationship Id="rId4" Type="http://schemas.openxmlformats.org/officeDocument/2006/relationships/image" Target="../media/image94.png" /><Relationship Id="rId5" Type="http://schemas.openxmlformats.org/officeDocument/2006/relationships/image" Target="../media/image88.png" /><Relationship Id="rId6" Type="http://schemas.openxmlformats.org/officeDocument/2006/relationships/image" Target="../media/image93.png" /><Relationship Id="rId7" Type="http://schemas.openxmlformats.org/officeDocument/2006/relationships/image" Target="../media/image91.png" /><Relationship Id="rId8" Type="http://schemas.openxmlformats.org/officeDocument/2006/relationships/image" Target="../media/image98.png" /><Relationship Id="rId9" Type="http://schemas.openxmlformats.org/officeDocument/2006/relationships/image" Target="../media/image90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image" Target="../media/image102.png" /><Relationship Id="rId3" Type="http://schemas.openxmlformats.org/officeDocument/2006/relationships/image" Target="../media/image104.png" /><Relationship Id="rId4" Type="http://schemas.openxmlformats.org/officeDocument/2006/relationships/image" Target="../media/image103.png" /><Relationship Id="rId5" Type="http://schemas.openxmlformats.org/officeDocument/2006/relationships/image" Target="../media/image101.png" /><Relationship Id="rId6" Type="http://schemas.openxmlformats.org/officeDocument/2006/relationships/slideLayout" Target="../slideLayouts/slideLayout12.xml" /><Relationship Id="rId7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113.png" /><Relationship Id="rId11" Type="http://schemas.openxmlformats.org/officeDocument/2006/relationships/image" Target="../media/image116.png" /><Relationship Id="rId13" Type="http://schemas.openxmlformats.org/officeDocument/2006/relationships/image" Target="../media/image111.png" /><Relationship Id="rId15" Type="http://schemas.openxmlformats.org/officeDocument/2006/relationships/image" Target="../media/image122.png" /><Relationship Id="rId17" Type="http://schemas.openxmlformats.org/officeDocument/2006/relationships/image" Target="../media/image119.png" /><Relationship Id="rId18" Type="http://schemas.openxmlformats.org/officeDocument/2006/relationships/image" Target="../media/image118.png" /><Relationship Id="rId19" Type="http://schemas.openxmlformats.org/officeDocument/2006/relationships/image" Target="../media/image105.png" /><Relationship Id="rId2" Type="http://schemas.openxmlformats.org/officeDocument/2006/relationships/image" Target="../media/image121.png" /><Relationship Id="rId20" Type="http://schemas.openxmlformats.org/officeDocument/2006/relationships/image" Target="../media/image106.png" /><Relationship Id="rId21" Type="http://schemas.openxmlformats.org/officeDocument/2006/relationships/image" Target="../media/image108.png" /><Relationship Id="rId22" Type="http://schemas.openxmlformats.org/officeDocument/2006/relationships/image" Target="../media/image109.png" /><Relationship Id="rId23" Type="http://schemas.openxmlformats.org/officeDocument/2006/relationships/image" Target="../media/image114.png" /><Relationship Id="rId24" Type="http://schemas.openxmlformats.org/officeDocument/2006/relationships/image" Target="../media/image117.png" /><Relationship Id="rId25" Type="http://schemas.openxmlformats.org/officeDocument/2006/relationships/image" Target="../media/image115.png" /><Relationship Id="rId26" Type="http://schemas.openxmlformats.org/officeDocument/2006/relationships/slideLayout" Target="../slideLayouts/slideLayout12.xml" /><Relationship Id="rId27" Type="http://schemas.openxmlformats.org/officeDocument/2006/relationships/notesSlide" Target="../notesSlides/notesSlide20.xml" /><Relationship Id="rId3" Type="http://schemas.openxmlformats.org/officeDocument/2006/relationships/image" Target="../media/image120.png" /><Relationship Id="rId5" Type="http://schemas.openxmlformats.org/officeDocument/2006/relationships/image" Target="../media/image107.png" /><Relationship Id="rId7" Type="http://schemas.openxmlformats.org/officeDocument/2006/relationships/image" Target="../media/image110.png" /><Relationship Id="rId9" Type="http://schemas.openxmlformats.org/officeDocument/2006/relationships/image" Target="../media/image112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131.png" /><Relationship Id="rId11" Type="http://schemas.openxmlformats.org/officeDocument/2006/relationships/slideLayout" Target="../slideLayouts/slideLayout12.xml" /><Relationship Id="rId12" Type="http://schemas.openxmlformats.org/officeDocument/2006/relationships/notesSlide" Target="../notesSlides/notesSlide22.xml" /><Relationship Id="rId2" Type="http://schemas.openxmlformats.org/officeDocument/2006/relationships/image" Target="../media/image129.png" /><Relationship Id="rId3" Type="http://schemas.openxmlformats.org/officeDocument/2006/relationships/image" Target="../media/image130.png" /><Relationship Id="rId4" Type="http://schemas.openxmlformats.org/officeDocument/2006/relationships/image" Target="../media/image128.png" /><Relationship Id="rId5" Type="http://schemas.openxmlformats.org/officeDocument/2006/relationships/image" Target="../media/image127.png" /><Relationship Id="rId6" Type="http://schemas.openxmlformats.org/officeDocument/2006/relationships/image" Target="../media/image126.png" /><Relationship Id="rId7" Type="http://schemas.openxmlformats.org/officeDocument/2006/relationships/image" Target="../media/image125.png" /><Relationship Id="rId8" Type="http://schemas.openxmlformats.org/officeDocument/2006/relationships/image" Target="../media/image123.png" /><Relationship Id="rId9" Type="http://schemas.openxmlformats.org/officeDocument/2006/relationships/image" Target="../media/image124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slideLayout" Target="../slideLayouts/slideLayout12.xml" /><Relationship Id="rId11" Type="http://schemas.openxmlformats.org/officeDocument/2006/relationships/notesSlide" Target="../notesSlides/notesSlide23.xml" /><Relationship Id="rId2" Type="http://schemas.openxmlformats.org/officeDocument/2006/relationships/image" Target="../media/image132.png" /><Relationship Id="rId3" Type="http://schemas.openxmlformats.org/officeDocument/2006/relationships/image" Target="../media/image133.png" /><Relationship Id="rId4" Type="http://schemas.openxmlformats.org/officeDocument/2006/relationships/image" Target="../media/image137.png" /><Relationship Id="rId5" Type="http://schemas.openxmlformats.org/officeDocument/2006/relationships/image" Target="../media/image139.png" /><Relationship Id="rId6" Type="http://schemas.openxmlformats.org/officeDocument/2006/relationships/image" Target="../media/image138.png" /><Relationship Id="rId7" Type="http://schemas.openxmlformats.org/officeDocument/2006/relationships/image" Target="../media/image134.png" /><Relationship Id="rId8" Type="http://schemas.openxmlformats.org/officeDocument/2006/relationships/image" Target="../media/image135.png" /><Relationship Id="rId9" Type="http://schemas.openxmlformats.org/officeDocument/2006/relationships/image" Target="../media/image136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147.png" /><Relationship Id="rId11" Type="http://schemas.openxmlformats.org/officeDocument/2006/relationships/image" Target="../media/image149.png" /><Relationship Id="rId12" Type="http://schemas.openxmlformats.org/officeDocument/2006/relationships/image" Target="../media/image150.png" /><Relationship Id="rId13" Type="http://schemas.openxmlformats.org/officeDocument/2006/relationships/image" Target="../media/image140.png" /><Relationship Id="rId14" Type="http://schemas.openxmlformats.org/officeDocument/2006/relationships/slideLayout" Target="../slideLayouts/slideLayout12.xml" /><Relationship Id="rId15" Type="http://schemas.openxmlformats.org/officeDocument/2006/relationships/notesSlide" Target="../notesSlides/notesSlide25.xml" /><Relationship Id="rId2" Type="http://schemas.openxmlformats.org/officeDocument/2006/relationships/image" Target="../media/image143.png" /><Relationship Id="rId3" Type="http://schemas.openxmlformats.org/officeDocument/2006/relationships/image" Target="../media/image146.png" /><Relationship Id="rId4" Type="http://schemas.openxmlformats.org/officeDocument/2006/relationships/image" Target="../media/image148.png" /><Relationship Id="rId5" Type="http://schemas.openxmlformats.org/officeDocument/2006/relationships/image" Target="../media/image151.png" /><Relationship Id="rId6" Type="http://schemas.openxmlformats.org/officeDocument/2006/relationships/image" Target="../media/image144.png" /><Relationship Id="rId7" Type="http://schemas.openxmlformats.org/officeDocument/2006/relationships/image" Target="../media/image145.png" /><Relationship Id="rId8" Type="http://schemas.openxmlformats.org/officeDocument/2006/relationships/image" Target="../media/image141.png" /><Relationship Id="rId9" Type="http://schemas.openxmlformats.org/officeDocument/2006/relationships/image" Target="../media/image142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image" Target="../media/image152.png" /><Relationship Id="rId3" Type="http://schemas.openxmlformats.org/officeDocument/2006/relationships/image" Target="../media/image154.png" /><Relationship Id="rId4" Type="http://schemas.openxmlformats.org/officeDocument/2006/relationships/image" Target="../media/image153.png" /><Relationship Id="rId5" Type="http://schemas.openxmlformats.org/officeDocument/2006/relationships/image" Target="../media/image155.png" /><Relationship Id="rId6" Type="http://schemas.openxmlformats.org/officeDocument/2006/relationships/slideLayout" Target="../slideLayouts/slideLayout12.xml" /><Relationship Id="rId7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image" Target="../media/image160.png" /><Relationship Id="rId11" Type="http://schemas.openxmlformats.org/officeDocument/2006/relationships/slideLayout" Target="../slideLayouts/slideLayout12.xml" /><Relationship Id="rId12" Type="http://schemas.openxmlformats.org/officeDocument/2006/relationships/notesSlide" Target="../notesSlides/notesSlide28.xml" /><Relationship Id="rId2" Type="http://schemas.openxmlformats.org/officeDocument/2006/relationships/image" Target="../media/image163.png" /><Relationship Id="rId3" Type="http://schemas.openxmlformats.org/officeDocument/2006/relationships/image" Target="../media/image161.png" /><Relationship Id="rId4" Type="http://schemas.openxmlformats.org/officeDocument/2006/relationships/image" Target="../media/image158.png" /><Relationship Id="rId5" Type="http://schemas.openxmlformats.org/officeDocument/2006/relationships/image" Target="../media/image156.png" /><Relationship Id="rId6" Type="http://schemas.openxmlformats.org/officeDocument/2006/relationships/image" Target="../media/image157.png" /><Relationship Id="rId7" Type="http://schemas.openxmlformats.org/officeDocument/2006/relationships/image" Target="../media/image159.png" /><Relationship Id="rId9" Type="http://schemas.openxmlformats.org/officeDocument/2006/relationships/image" Target="../media/image162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image" Target="../media/image166.png" /><Relationship Id="rId3" Type="http://schemas.openxmlformats.org/officeDocument/2006/relationships/image" Target="../media/image167.png" /><Relationship Id="rId4" Type="http://schemas.openxmlformats.org/officeDocument/2006/relationships/image" Target="../media/image165.png" /><Relationship Id="rId5" Type="http://schemas.openxmlformats.org/officeDocument/2006/relationships/image" Target="../media/image164.png" /><Relationship Id="rId6" Type="http://schemas.openxmlformats.org/officeDocument/2006/relationships/slideLayout" Target="../slideLayouts/slideLayout12.xml" /><Relationship Id="rId7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10" Type="http://schemas.openxmlformats.org/officeDocument/2006/relationships/slideLayout" Target="../slideLayouts/slideLayout12.xml" /><Relationship Id="rId11" Type="http://schemas.openxmlformats.org/officeDocument/2006/relationships/notesSlide" Target="../notesSlides/notesSlide31.xml" /><Relationship Id="rId2" Type="http://schemas.openxmlformats.org/officeDocument/2006/relationships/image" Target="../media/image175.png" /><Relationship Id="rId3" Type="http://schemas.openxmlformats.org/officeDocument/2006/relationships/image" Target="../media/image170.png" /><Relationship Id="rId4" Type="http://schemas.openxmlformats.org/officeDocument/2006/relationships/image" Target="../media/image173.png" /><Relationship Id="rId5" Type="http://schemas.openxmlformats.org/officeDocument/2006/relationships/image" Target="../media/image169.png" /><Relationship Id="rId6" Type="http://schemas.openxmlformats.org/officeDocument/2006/relationships/image" Target="../media/image168.png" /><Relationship Id="rId7" Type="http://schemas.openxmlformats.org/officeDocument/2006/relationships/image" Target="../media/image172.png" /><Relationship Id="rId8" Type="http://schemas.openxmlformats.org/officeDocument/2006/relationships/image" Target="../media/image171.png" /><Relationship Id="rId9" Type="http://schemas.openxmlformats.org/officeDocument/2006/relationships/image" Target="../media/image174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76.png" /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3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196" y="821045"/>
            <a:ext cx="3520516" cy="11382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4320"/>
              </a:lnSpc>
              <a:buNone/>
            </a:pPr>
            <a:r>
              <a:rPr lang="en-US" sz="3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金融模型对比科普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261676" y="2200876"/>
            <a:ext cx="3116656" cy="17621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56"/>
              </a:lnSpc>
              <a:buNone/>
            </a:pPr>
            <a:r>
              <a:rPr lang="en-US" sz="11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TM、CL、HM模型深度剖析</a:t>
            </a:r>
            <a:endParaRPr lang="en-US" sz="113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fe60b0efdf71c453fe1841ffce26faf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7620000" cy="4286250"/>
          </a:xfrm>
          <a:prstGeom prst="rect"/>
        </p:spPr>
      </p:pic>
      <p:sp>
        <p:nvSpPr>
          <p:cNvPr id="3" name="Text 0"/>
          <p:cNvSpPr/>
          <p:nvPr/>
        </p:nvSpPr>
        <p:spPr>
          <a:xfrm>
            <a:off x="603464" y="1755238"/>
            <a:ext cx="1102625" cy="461963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516"/>
              </a:lnSpc>
              <a:buNone/>
            </a:pPr>
            <a:r>
              <a:rPr lang="en-US" sz="293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目录</a:t>
            </a:r>
            <a:endParaRPr lang="en-US" sz="2930"/>
          </a:p>
        </p:txBody>
      </p:sp>
      <p:sp>
        <p:nvSpPr>
          <p:cNvPr id="4" name="Text 1"/>
          <p:cNvSpPr/>
          <p:nvPr/>
        </p:nvSpPr>
        <p:spPr>
          <a:xfrm>
            <a:off x="595694" y="2332869"/>
            <a:ext cx="1966532" cy="219075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620"/>
              </a:lnSpc>
              <a:buNone/>
            </a:pPr>
            <a:r>
              <a:rPr lang="en-US" sz="13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CONTENTS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3605699" y="345810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01</a:t>
            </a:r>
            <a:endParaRPr lang="en-US" sz="2050"/>
          </a:p>
        </p:txBody>
      </p:sp>
      <p:sp>
        <p:nvSpPr>
          <p:cNvPr id="6" name="Text 3"/>
          <p:cNvSpPr/>
          <p:nvPr/>
        </p:nvSpPr>
        <p:spPr>
          <a:xfrm>
            <a:off x="3605699" y="825718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02</a:t>
            </a:r>
            <a:endParaRPr lang="en-US" sz="2050"/>
          </a:p>
        </p:txBody>
      </p:sp>
      <p:sp>
        <p:nvSpPr>
          <p:cNvPr id="7" name="Text 4"/>
          <p:cNvSpPr/>
          <p:nvPr/>
        </p:nvSpPr>
        <p:spPr>
          <a:xfrm>
            <a:off x="3605699" y="1305626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03</a:t>
            </a:r>
            <a:endParaRPr lang="en-US" sz="2050"/>
          </a:p>
        </p:txBody>
      </p:sp>
      <p:sp>
        <p:nvSpPr>
          <p:cNvPr id="8" name="Text 5"/>
          <p:cNvSpPr/>
          <p:nvPr/>
        </p:nvSpPr>
        <p:spPr>
          <a:xfrm>
            <a:off x="3605699" y="1785534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04</a:t>
            </a:r>
            <a:endParaRPr lang="en-US" sz="2050"/>
          </a:p>
        </p:txBody>
      </p:sp>
      <p:sp>
        <p:nvSpPr>
          <p:cNvPr id="9" name="Text 6"/>
          <p:cNvSpPr/>
          <p:nvPr/>
        </p:nvSpPr>
        <p:spPr>
          <a:xfrm>
            <a:off x="3605699" y="2265442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05</a:t>
            </a:r>
            <a:endParaRPr lang="en-US" sz="2050"/>
          </a:p>
        </p:txBody>
      </p:sp>
      <p:sp>
        <p:nvSpPr>
          <p:cNvPr id="10" name="Text 7"/>
          <p:cNvSpPr/>
          <p:nvPr/>
        </p:nvSpPr>
        <p:spPr>
          <a:xfrm>
            <a:off x="3605699" y="2745351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06</a:t>
            </a:r>
            <a:endParaRPr lang="en-US" sz="2050"/>
          </a:p>
        </p:txBody>
      </p:sp>
      <p:sp>
        <p:nvSpPr>
          <p:cNvPr id="11" name="Text 8"/>
          <p:cNvSpPr/>
          <p:nvPr/>
        </p:nvSpPr>
        <p:spPr>
          <a:xfrm>
            <a:off x="3605699" y="3225259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07</a:t>
            </a:r>
            <a:endParaRPr lang="en-US" sz="2050"/>
          </a:p>
        </p:txBody>
      </p:sp>
      <p:sp>
        <p:nvSpPr>
          <p:cNvPr id="12" name="Text 9"/>
          <p:cNvSpPr/>
          <p:nvPr/>
        </p:nvSpPr>
        <p:spPr>
          <a:xfrm>
            <a:off x="3605699" y="3705167"/>
            <a:ext cx="790210" cy="33813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60"/>
              </a:lnSpc>
              <a:buNone/>
            </a:pPr>
            <a:r>
              <a:rPr lang="en-US" sz="20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08</a:t>
            </a:r>
            <a:endParaRPr lang="en-US" sz="2050"/>
          </a:p>
        </p:txBody>
      </p:sp>
      <p:sp>
        <p:nvSpPr>
          <p:cNvPr id="13" name="Text 10"/>
          <p:cNvSpPr/>
          <p:nvPr/>
        </p:nvSpPr>
        <p:spPr>
          <a:xfrm>
            <a:off x="4414500" y="2764501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优缺点析</a:t>
            </a:r>
            <a:endParaRPr lang="en-US" sz="1800"/>
          </a:p>
        </p:txBody>
      </p:sp>
      <p:sp>
        <p:nvSpPr>
          <p:cNvPr id="14" name="Text 11"/>
          <p:cNvSpPr/>
          <p:nvPr/>
        </p:nvSpPr>
        <p:spPr>
          <a:xfrm>
            <a:off x="4414500" y="3244409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CL分析</a:t>
            </a:r>
            <a:endParaRPr lang="en-US" sz="1800"/>
          </a:p>
        </p:txBody>
      </p:sp>
      <p:sp>
        <p:nvSpPr>
          <p:cNvPr id="15" name="Text 12"/>
          <p:cNvSpPr/>
          <p:nvPr/>
        </p:nvSpPr>
        <p:spPr>
          <a:xfrm>
            <a:off x="4414500" y="844868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数学对比</a:t>
            </a:r>
            <a:endParaRPr lang="en-US" sz="1800"/>
          </a:p>
        </p:txBody>
      </p:sp>
      <p:sp>
        <p:nvSpPr>
          <p:cNvPr id="16" name="Text 13"/>
          <p:cNvSpPr/>
          <p:nvPr/>
        </p:nvSpPr>
        <p:spPr>
          <a:xfrm>
            <a:off x="4414500" y="1324776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图形差异</a:t>
            </a:r>
            <a:endParaRPr lang="en-US" sz="1800"/>
          </a:p>
        </p:txBody>
      </p:sp>
      <p:sp>
        <p:nvSpPr>
          <p:cNvPr id="17" name="Text 14"/>
          <p:cNvSpPr/>
          <p:nvPr/>
        </p:nvSpPr>
        <p:spPr>
          <a:xfrm>
            <a:off x="4414500" y="3724317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实证结论</a:t>
            </a:r>
            <a:endParaRPr lang="en-US" sz="1800"/>
          </a:p>
        </p:txBody>
      </p:sp>
      <p:sp>
        <p:nvSpPr>
          <p:cNvPr id="18" name="Text 15"/>
          <p:cNvSpPr/>
          <p:nvPr/>
        </p:nvSpPr>
        <p:spPr>
          <a:xfrm>
            <a:off x="4414500" y="2284593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适用场景</a:t>
            </a:r>
            <a:endParaRPr lang="en-US" sz="1800"/>
          </a:p>
        </p:txBody>
      </p:sp>
      <p:sp>
        <p:nvSpPr>
          <p:cNvPr id="19" name="Text 16"/>
          <p:cNvSpPr/>
          <p:nvPr/>
        </p:nvSpPr>
        <p:spPr>
          <a:xfrm>
            <a:off x="4414500" y="364960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对比概述</a:t>
            </a:r>
            <a:endParaRPr lang="en-US" sz="1800"/>
          </a:p>
        </p:txBody>
      </p:sp>
      <p:sp>
        <p:nvSpPr>
          <p:cNvPr id="20" name="Text 17"/>
          <p:cNvSpPr/>
          <p:nvPr/>
        </p:nvSpPr>
        <p:spPr>
          <a:xfrm>
            <a:off x="4414500" y="1804684"/>
            <a:ext cx="3046644" cy="280591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8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择时逻辑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5397"/>
            <a:ext cx="1787623" cy="31432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316"/>
              </a:lnSpc>
              <a:buNone/>
            </a:pPr>
            <a:r>
              <a:rPr lang="en-US" sz="193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Part.01</a:t>
            </a:r>
            <a:endParaRPr lang="en-US" sz="1930"/>
          </a:p>
        </p:txBody>
      </p:sp>
      <p:sp>
        <p:nvSpPr>
          <p:cNvPr id="3" name="Text 1"/>
          <p:cNvSpPr/>
          <p:nvPr/>
        </p:nvSpPr>
        <p:spPr>
          <a:xfrm>
            <a:off x="533820" y="1939252"/>
            <a:ext cx="6664423" cy="461963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516"/>
              </a:lnSpc>
              <a:buNone/>
            </a:pPr>
            <a:r>
              <a:rPr lang="en-US" sz="293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对比概述</a:t>
            </a:r>
            <a:endParaRPr lang="en-US" sz="293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三个模型对比总览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a01ff12763b38ed80d4230417491897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8a4c9f1891ebeb873e32737907d3fec8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571" y="1068461"/>
            <a:ext cx="2827936" cy="1262042"/>
          </a:xfrm>
          <a:prstGeom prst="rect"/>
        </p:spPr>
      </p:pic>
      <p:pic>
        <p:nvPicPr>
          <p:cNvPr id="4" name="Image 2" descr="https://test.web.static.jianzeppt.com/ppt-temp-img/8df05a4dabff23f68f42412455bcf10c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03087" y="1068461"/>
            <a:ext cx="2827935" cy="1262042"/>
          </a:xfrm>
          <a:prstGeom prst="rect"/>
        </p:spPr>
      </p:pic>
      <p:pic>
        <p:nvPicPr>
          <p:cNvPr id="5" name="Image 3" descr="https://test.web.static.jianzeppt.com/ppt-temp-img/93ebaf9657783816ad133e8e356575a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9571" y="2633059"/>
            <a:ext cx="2827936" cy="1262042"/>
          </a:xfrm>
          <a:prstGeom prst="rect"/>
        </p:spPr>
      </p:pic>
      <p:pic>
        <p:nvPicPr>
          <p:cNvPr id="6" name="Image 4" descr="https://test.web.static.jianzeppt.com/ppt-temp-img/4786e8bc394fec8e0eb98f7be0ef30a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03087" y="2633059"/>
            <a:ext cx="2827935" cy="1262042"/>
          </a:xfrm>
          <a:prstGeom prst="rect"/>
        </p:spPr>
      </p:pic>
      <p:pic>
        <p:nvPicPr>
          <p:cNvPr id="7" name="Image 5" descr="https://test.web.static.jianzeppt.com/ppt-temp-img/3ed45647a59be52488977aa4958292f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318098" y="869052"/>
            <a:ext cx="398816" cy="398816"/>
          </a:xfrm>
          <a:prstGeom prst="rect"/>
        </p:spPr>
      </p:pic>
      <p:pic>
        <p:nvPicPr>
          <p:cNvPr id="8" name="Image 6" descr="https://test.web.static.jianzeppt.com/ppt-temp-img/5c2617aa88423bca14e87c99ac39bb81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400914" y="958278"/>
            <a:ext cx="220894" cy="220894"/>
          </a:xfrm>
          <a:prstGeom prst="rect"/>
        </p:spPr>
      </p:pic>
      <p:pic>
        <p:nvPicPr>
          <p:cNvPr id="9" name="Image 7" descr="https://test.web.static.jianzeppt.com/ppt-temp-img/bc52447a50d4b909a3f6a2554b42390a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318098" y="2432430"/>
            <a:ext cx="398816" cy="398816"/>
          </a:xfrm>
          <a:prstGeom prst="rect"/>
        </p:spPr>
      </p:pic>
      <p:pic>
        <p:nvPicPr>
          <p:cNvPr id="10" name="Image 8" descr="https://test.web.static.jianzeppt.com/ppt-temp-img/2bbfa9ce45907a8d3167040afc975ba7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400914" y="2521655"/>
            <a:ext cx="220894" cy="220894"/>
          </a:xfrm>
          <a:prstGeom prst="rect"/>
        </p:spPr>
      </p:pic>
      <p:pic>
        <p:nvPicPr>
          <p:cNvPr id="11" name="Image 9" descr="https://test.web.static.jianzeppt.com/ppt-temp-img/e8dc69ec6edc4ce01355e029a22dd12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528592" y="2432430"/>
            <a:ext cx="398816" cy="398816"/>
          </a:xfrm>
          <a:prstGeom prst="rect"/>
        </p:spPr>
      </p:pic>
      <p:pic>
        <p:nvPicPr>
          <p:cNvPr id="12" name="Image 10" descr="https://test.web.static.jianzeppt.com/ppt-temp-img/0d2fd22d81734996c419ec9b4b67f972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611394" y="2521655"/>
            <a:ext cx="220894" cy="220894"/>
          </a:xfrm>
          <a:prstGeom prst="rect"/>
        </p:spPr>
      </p:pic>
      <p:pic>
        <p:nvPicPr>
          <p:cNvPr id="13" name="Image 11" descr="https://test.web.static.jianzeppt.com/ppt-temp-img/5acbeeb4516e80f4dff3ca1595e5da19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529584" y="867831"/>
            <a:ext cx="398816" cy="398816"/>
          </a:xfrm>
          <a:prstGeom prst="rect"/>
        </p:spPr>
      </p:pic>
      <p:pic>
        <p:nvPicPr>
          <p:cNvPr id="14" name="Image 12" descr="https://test.web.static.jianzeppt.com/ppt-temp-img/3a6686d649062147a16c8b48fad8ba73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612347" y="957057"/>
            <a:ext cx="220894" cy="220894"/>
          </a:xfrm>
          <a:prstGeom prst="rect"/>
        </p:spPr>
      </p:pic>
      <p:sp>
        <p:nvSpPr>
          <p:cNvPr id="15" name="Text 0"/>
          <p:cNvSpPr/>
          <p:nvPr/>
        </p:nvSpPr>
        <p:spPr>
          <a:xfrm>
            <a:off x="847908" y="1422170"/>
            <a:ext cx="2435132" cy="80478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274"/>
              </a:lnSpc>
              <a:buNone/>
            </a:pPr>
            <a:r>
              <a:rPr lang="en-US" sz="98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TM、CL、HM三个模型的核心目的是检验基金或策略是否具有市场择时能力。例如，在不同的市场环境下，基金经理能否调整投资组合以获取更好的收益。这是评估基金绩效的重要指标。</a:t>
            </a:r>
            <a:endParaRPr lang="en-US" sz="980"/>
          </a:p>
        </p:txBody>
      </p:sp>
      <p:sp>
        <p:nvSpPr>
          <p:cNvPr id="16" name="Text 1"/>
          <p:cNvSpPr/>
          <p:nvPr/>
        </p:nvSpPr>
        <p:spPr>
          <a:xfrm>
            <a:off x="4061424" y="2986768"/>
            <a:ext cx="2435132" cy="69324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了解这些模型有助于投资者和基金经理选择合适的策略，提高投资收益。同时，对于学术研究也具有重要意义，可推动金融理论的发展。</a:t>
            </a:r>
            <a:endParaRPr lang="en-US" sz="1050"/>
          </a:p>
        </p:txBody>
      </p:sp>
      <p:sp>
        <p:nvSpPr>
          <p:cNvPr id="17" name="Text 2"/>
          <p:cNvSpPr/>
          <p:nvPr/>
        </p:nvSpPr>
        <p:spPr>
          <a:xfrm>
            <a:off x="847007" y="1167602"/>
            <a:ext cx="238504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核心目的</a:t>
            </a:r>
            <a:endParaRPr lang="en-US" sz="1200"/>
          </a:p>
        </p:txBody>
      </p:sp>
      <p:sp>
        <p:nvSpPr>
          <p:cNvPr id="18" name="Text 3"/>
          <p:cNvSpPr/>
          <p:nvPr/>
        </p:nvSpPr>
        <p:spPr>
          <a:xfrm>
            <a:off x="847007" y="2732200"/>
            <a:ext cx="238504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对比维度</a:t>
            </a:r>
            <a:endParaRPr lang="en-US" sz="1200"/>
          </a:p>
        </p:txBody>
      </p:sp>
      <p:sp>
        <p:nvSpPr>
          <p:cNvPr id="19" name="Text 4"/>
          <p:cNvSpPr/>
          <p:nvPr/>
        </p:nvSpPr>
        <p:spPr>
          <a:xfrm>
            <a:off x="4060523" y="2732200"/>
            <a:ext cx="238504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应用价值</a:t>
            </a:r>
            <a:endParaRPr lang="en-US" sz="1200"/>
          </a:p>
        </p:txBody>
      </p:sp>
      <p:sp>
        <p:nvSpPr>
          <p:cNvPr id="20" name="Text 5"/>
          <p:cNvSpPr/>
          <p:nvPr/>
        </p:nvSpPr>
        <p:spPr>
          <a:xfrm>
            <a:off x="4060523" y="1167602"/>
            <a:ext cx="238504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模型特点</a:t>
            </a:r>
            <a:endParaRPr lang="en-US" sz="1200"/>
          </a:p>
        </p:txBody>
      </p:sp>
      <p:sp>
        <p:nvSpPr>
          <p:cNvPr id="21" name="Text 6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模型简介</a:t>
            </a:r>
            <a:endParaRPr lang="en-US" sz="1600"/>
          </a:p>
        </p:txBody>
      </p:sp>
      <p:sp>
        <p:nvSpPr>
          <p:cNvPr id="22" name="Text 7"/>
          <p:cNvSpPr/>
          <p:nvPr/>
        </p:nvSpPr>
        <p:spPr>
          <a:xfrm>
            <a:off x="847908" y="2986768"/>
            <a:ext cx="2435132" cy="69324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将从10个维度对这三个模型进行对比，包括理论思想、数学模型、择时指标等。通过多维度对比，可以更全面深入地了解各模型的特点和适用场景。</a:t>
            </a:r>
            <a:endParaRPr lang="en-US" sz="1050"/>
          </a:p>
        </p:txBody>
      </p:sp>
      <p:sp>
        <p:nvSpPr>
          <p:cNvPr id="23" name="Text 8"/>
          <p:cNvSpPr/>
          <p:nvPr/>
        </p:nvSpPr>
        <p:spPr>
          <a:xfrm>
            <a:off x="4061424" y="1422170"/>
            <a:ext cx="2435132" cy="643830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274"/>
              </a:lnSpc>
              <a:buNone/>
            </a:pPr>
            <a:r>
              <a:rPr lang="en-US" sz="98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HM模型关注基金在市场好坏时的不同β值；TM模型注重收益曲线的凸性；CL模型是基于HM思路的大规模实证验证。这些特点决定了它们在不同情况下的应用。</a:t>
            </a:r>
            <a:endParaRPr lang="en-US" sz="98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7" grpId="0" uiExpand="0" advAuto="indefinite" build="whole" animBg="1"/>
      <p1:bldP xmlns:p1="http://schemas.openxmlformats.org/presentationml/2006/main" spid="8" grpId="1" uiExpand="0" advAuto="indefinite" build="whole" animBg="1"/>
      <p1:bldP xmlns:p1="http://schemas.openxmlformats.org/presentationml/2006/main" spid="3" grpId="2" uiExpand="0" advAuto="indefinite" build="whole" animBg="1"/>
      <p1:bldP xmlns:p1="http://schemas.openxmlformats.org/presentationml/2006/main" spid="17" grpId="3" uiExpand="0" advAuto="indefinite" build="whole" animBg="1"/>
      <p1:bldP xmlns:p1="http://schemas.openxmlformats.org/presentationml/2006/main" spid="9" grpId="4" uiExpand="0" advAuto="indefinite" build="whole" animBg="1"/>
      <p1:bldP xmlns:p1="http://schemas.openxmlformats.org/presentationml/2006/main" spid="10" grpId="5" uiExpand="0" advAuto="indefinite" build="whole" animBg="1"/>
      <p1:bldP xmlns:p1="http://schemas.openxmlformats.org/presentationml/2006/main" spid="5" grpId="6" uiExpand="0" advAuto="indefinite" build="whole" animBg="1"/>
      <p1:bldP xmlns:p1="http://schemas.openxmlformats.org/presentationml/2006/main" spid="18" grpId="7" uiExpand="0" advAuto="indefinite" build="whole" animBg="1"/>
      <p1:bldP xmlns:p1="http://schemas.openxmlformats.org/presentationml/2006/main" spid="22" grpId="8" uiExpand="0" advAuto="indefinite" build="whole" animBg="1"/>
      <p1:bldP xmlns:p1="http://schemas.openxmlformats.org/presentationml/2006/main" spid="13" grpId="9" uiExpand="0" advAuto="indefinite" build="whole" animBg="1"/>
      <p1:bldP xmlns:p1="http://schemas.openxmlformats.org/presentationml/2006/main" spid="14" grpId="10" uiExpand="0" advAuto="indefinite" build="whole" animBg="1"/>
      <p1:bldP xmlns:p1="http://schemas.openxmlformats.org/presentationml/2006/main" spid="4" grpId="11" uiExpand="0" advAuto="indefinite" build="whole" animBg="1"/>
      <p1:bldP xmlns:p1="http://schemas.openxmlformats.org/presentationml/2006/main" spid="20" grpId="12" uiExpand="0" advAuto="indefinite" build="whole" animBg="1"/>
      <p1:bldP xmlns:p1="http://schemas.openxmlformats.org/presentationml/2006/main" spid="15" grpId="13" uiExpand="0" advAuto="indefinite" build="whole" animBg="1"/>
      <p1:bldP xmlns:p1="http://schemas.openxmlformats.org/presentationml/2006/main" spid="23" grpId="14" uiExpand="0" advAuto="indefinite" build="whole" animBg="1"/>
      <p1:bldP xmlns:p1="http://schemas.openxmlformats.org/presentationml/2006/main" spid="11" grpId="15" uiExpand="0" advAuto="indefinite" build="whole" animBg="1"/>
      <p1:bldP xmlns:p1="http://schemas.openxmlformats.org/presentationml/2006/main" spid="12" grpId="16" uiExpand="0" advAuto="indefinite" build="whole" animBg="1"/>
      <p1:bldP xmlns:p1="http://schemas.openxmlformats.org/presentationml/2006/main" spid="6" grpId="17" uiExpand="0" advAuto="indefinite" build="whole" animBg="1"/>
      <p1:bldP xmlns:p1="http://schemas.openxmlformats.org/presentationml/2006/main" spid="19" grpId="18" uiExpand="0" advAuto="indefinite" build="whole" animBg="1"/>
      <p1:bldP xmlns:p1="http://schemas.openxmlformats.org/presentationml/2006/main" spid="16" grpId="19" uiExpand="0" advAuto="indefinite" build="whol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8c549f37b67c5426d24f544d63e0181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7ba980c563a8986995f613c243c9bbb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81895" y="985295"/>
            <a:ext cx="363825" cy="363825"/>
          </a:xfrm>
          <a:prstGeom prst="rect"/>
        </p:spPr>
      </p:pic>
      <p:pic>
        <p:nvPicPr>
          <p:cNvPr id="4" name="Image 2" descr="https://test.web.static.jianzeppt.com/ppt-temp-img/7cf9c7c8062bd71a9e5a8cdce12e8e16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3794" y="1730078"/>
            <a:ext cx="1440026" cy="37418"/>
          </a:xfrm>
          <a:prstGeom prst="rect"/>
        </p:spPr>
      </p:pic>
      <p:pic>
        <p:nvPicPr>
          <p:cNvPr id="5" name="Image 3" descr="https://test.web.static.jianzeppt.com/ppt-temp-img/0e6101ee975b47b0532270b6275d9d0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12690" y="985295"/>
            <a:ext cx="363825" cy="363825"/>
          </a:xfrm>
          <a:prstGeom prst="rect"/>
        </p:spPr>
      </p:pic>
      <p:pic>
        <p:nvPicPr>
          <p:cNvPr id="6" name="Image 4" descr="https://test.web.static.jianzeppt.com/ppt-temp-img/1ae321e44e1ae4c19e912e88963600c6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74590" y="1730078"/>
            <a:ext cx="1440026" cy="37418"/>
          </a:xfrm>
          <a:prstGeom prst="rect"/>
        </p:spPr>
      </p:pic>
      <p:pic>
        <p:nvPicPr>
          <p:cNvPr id="7" name="Image 5" descr="https://test.web.static.jianzeppt.com/ppt-temp-img/d918929db96294b1fd884ca6703dc839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443486" y="985295"/>
            <a:ext cx="363825" cy="363825"/>
          </a:xfrm>
          <a:prstGeom prst="rect"/>
        </p:spPr>
      </p:pic>
      <p:pic>
        <p:nvPicPr>
          <p:cNvPr id="8" name="Image 6" descr="https://test.web.static.jianzeppt.com/ppt-temp-img/01da0c3bef4bf81acc81045a0be29e6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05386" y="1730078"/>
            <a:ext cx="1440026" cy="37418"/>
          </a:xfrm>
          <a:prstGeom prst="rect"/>
        </p:spPr>
      </p:pic>
      <p:pic>
        <p:nvPicPr>
          <p:cNvPr id="9" name="Image 7" descr="https://test.web.static.jianzeppt.com/ppt-temp-img/447521eea1183241f1ee01861ee9df9f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074281" y="992969"/>
            <a:ext cx="363825" cy="363825"/>
          </a:xfrm>
          <a:prstGeom prst="rect"/>
        </p:spPr>
      </p:pic>
      <p:pic>
        <p:nvPicPr>
          <p:cNvPr id="10" name="Image 8" descr="https://test.web.static.jianzeppt.com/ppt-temp-img/b055ed14be282ddab25da271e2538b69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536181" y="1730078"/>
            <a:ext cx="1440025" cy="37418"/>
          </a:xfrm>
          <a:prstGeom prst="rect"/>
        </p:spPr>
      </p:pic>
      <p:sp>
        <p:nvSpPr>
          <p:cNvPr id="11" name="Text 0"/>
          <p:cNvSpPr/>
          <p:nvPr/>
        </p:nvSpPr>
        <p:spPr>
          <a:xfrm>
            <a:off x="5608336" y="1837607"/>
            <a:ext cx="1304858" cy="155979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三者思想的核心差异在于对择时的判断方式不同。HM关注β的上下行切换，TM关注收益曲线形状，CL关注大样本中的择时行为。这些差异决定了它们的适用场景不同。</a:t>
            </a:r>
            <a:endParaRPr lang="en-US" sz="1050"/>
          </a:p>
        </p:txBody>
      </p:sp>
      <p:sp>
        <p:nvSpPr>
          <p:cNvPr id="12" name="Text 1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思想对比</a:t>
            </a:r>
            <a:endParaRPr lang="en-US" sz="1600"/>
          </a:p>
        </p:txBody>
      </p:sp>
      <p:sp>
        <p:nvSpPr>
          <p:cNvPr id="13" name="Text 2"/>
          <p:cNvSpPr/>
          <p:nvPr/>
        </p:nvSpPr>
        <p:spPr>
          <a:xfrm>
            <a:off x="2346746" y="1837607"/>
            <a:ext cx="1304858" cy="13864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TM模型通过收益曲线的凸性来证明择时能力，可进行平滑式或连续的β调整。比如，在牛市中增强参与度，熊市中避免风险。这种思想更注重市场的连续性变化。</a:t>
            </a:r>
            <a:endParaRPr lang="en-US" sz="1050"/>
          </a:p>
        </p:txBody>
      </p:sp>
      <p:sp>
        <p:nvSpPr>
          <p:cNvPr id="14" name="Text 3"/>
          <p:cNvSpPr/>
          <p:nvPr/>
        </p:nvSpPr>
        <p:spPr>
          <a:xfrm>
            <a:off x="2345846" y="1493316"/>
            <a:ext cx="130665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TM思想</a:t>
            </a:r>
            <a:endParaRPr lang="en-US" sz="1200"/>
          </a:p>
        </p:txBody>
      </p:sp>
      <p:sp>
        <p:nvSpPr>
          <p:cNvPr id="15" name="Text 4"/>
          <p:cNvSpPr/>
          <p:nvPr/>
        </p:nvSpPr>
        <p:spPr>
          <a:xfrm>
            <a:off x="5607437" y="1493316"/>
            <a:ext cx="130665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思想差异</a:t>
            </a:r>
            <a:endParaRPr lang="en-US" sz="1200"/>
          </a:p>
        </p:txBody>
      </p:sp>
      <p:sp>
        <p:nvSpPr>
          <p:cNvPr id="16" name="Text 5"/>
          <p:cNvSpPr/>
          <p:nvPr/>
        </p:nvSpPr>
        <p:spPr>
          <a:xfrm>
            <a:off x="3976641" y="1493316"/>
            <a:ext cx="130665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CL思想</a:t>
            </a:r>
            <a:endParaRPr lang="en-US" sz="1200"/>
          </a:p>
        </p:txBody>
      </p:sp>
      <p:sp>
        <p:nvSpPr>
          <p:cNvPr id="17" name="Text 6"/>
          <p:cNvSpPr/>
          <p:nvPr/>
        </p:nvSpPr>
        <p:spPr>
          <a:xfrm>
            <a:off x="3977541" y="1837607"/>
            <a:ext cx="1304858" cy="13864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CL模型基于HM思路进行大规模实证验证，检验基金是否系统性呈现择时行为。大多数情况下，结论是基金没有明显的择时能力。它为行业研究提供了实证依据。</a:t>
            </a:r>
            <a:endParaRPr lang="en-US" sz="1050"/>
          </a:p>
        </p:txBody>
      </p:sp>
      <p:sp>
        <p:nvSpPr>
          <p:cNvPr id="18" name="Text 7"/>
          <p:cNvSpPr/>
          <p:nvPr/>
        </p:nvSpPr>
        <p:spPr>
          <a:xfrm>
            <a:off x="715050" y="1493316"/>
            <a:ext cx="130665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HM思想</a:t>
            </a:r>
            <a:endParaRPr lang="en-US" sz="1200"/>
          </a:p>
        </p:txBody>
      </p:sp>
      <p:sp>
        <p:nvSpPr>
          <p:cNvPr id="19" name="Text 8"/>
          <p:cNvSpPr/>
          <p:nvPr/>
        </p:nvSpPr>
        <p:spPr>
          <a:xfrm>
            <a:off x="715950" y="1837607"/>
            <a:ext cx="1304858" cy="155979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HM模型主要检验基金在市场好与坏时是否采取不同的β值，属于离散式择时。例如，在牛市和熊市中，基金的投资策略有明显的切换。这种思想适用于市场波动较大的情况。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18" grpId="1" uiExpand="0" advAuto="indefinite" build="whole" animBg="1"/>
      <p1:bldP xmlns:p1="http://schemas.openxmlformats.org/presentationml/2006/main" spid="4" grpId="2" uiExpand="0" advAuto="indefinite" build="whole" animBg="1"/>
      <p1:bldP xmlns:p1="http://schemas.openxmlformats.org/presentationml/2006/main" spid="19" grpId="3" uiExpand="0" advAuto="indefinite" build="whole" animBg="1"/>
      <p1:bldP xmlns:p1="http://schemas.openxmlformats.org/presentationml/2006/main" spid="5" grpId="4" uiExpand="0" advAuto="indefinite" build="whole" animBg="1"/>
      <p1:bldP xmlns:p1="http://schemas.openxmlformats.org/presentationml/2006/main" spid="14" grpId="5" uiExpand="0" advAuto="indefinite" build="whole" animBg="1"/>
      <p1:bldP xmlns:p1="http://schemas.openxmlformats.org/presentationml/2006/main" spid="6" grpId="6" uiExpand="0" advAuto="indefinite" build="whole" animBg="1"/>
      <p1:bldP xmlns:p1="http://schemas.openxmlformats.org/presentationml/2006/main" spid="13" grpId="7" uiExpand="0" advAuto="indefinite" build="whole" animBg="1"/>
      <p1:bldP xmlns:p1="http://schemas.openxmlformats.org/presentationml/2006/main" spid="7" grpId="8" uiExpand="0" advAuto="indefinite" build="whole" animBg="1"/>
      <p1:bldP xmlns:p1="http://schemas.openxmlformats.org/presentationml/2006/main" spid="16" grpId="9" uiExpand="0" advAuto="indefinite" build="whole" animBg="1"/>
      <p1:bldP xmlns:p1="http://schemas.openxmlformats.org/presentationml/2006/main" spid="8" grpId="10" uiExpand="0" advAuto="indefinite" build="whole" animBg="1"/>
      <p1:bldP xmlns:p1="http://schemas.openxmlformats.org/presentationml/2006/main" spid="17" grpId="11" uiExpand="0" advAuto="indefinite" build="whole" animBg="1"/>
      <p1:bldP xmlns:p1="http://schemas.openxmlformats.org/presentationml/2006/main" spid="9" grpId="12" uiExpand="0" advAuto="indefinite" build="whole" animBg="1"/>
      <p1:bldP xmlns:p1="http://schemas.openxmlformats.org/presentationml/2006/main" spid="15" grpId="13" uiExpand="0" advAuto="indefinite" build="whole" animBg="1"/>
      <p1:bldP xmlns:p1="http://schemas.openxmlformats.org/presentationml/2006/main" spid="10" grpId="14" uiExpand="0" advAuto="indefinite" build="whole" animBg="1"/>
      <p1:bldP xmlns:p1="http://schemas.openxmlformats.org/presentationml/2006/main" spid="11" grpId="15" uiExpand="0" advAuto="indefinite" build="whol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6a9d030b0ba270c4965a46f0eb64f09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5044f72d3267597f75fb15f3638960c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4754" y="2112452"/>
            <a:ext cx="6271095" cy="4677"/>
          </a:xfrm>
          <a:prstGeom prst="rect"/>
        </p:spPr>
      </p:pic>
      <p:pic>
        <p:nvPicPr>
          <p:cNvPr id="4" name="Image 2" descr="https://test.web.static.jianzeppt.com/ppt-temp-img/b6f9c9316146d876587edb3939bbda4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6399" y="1147397"/>
            <a:ext cx="638473" cy="638065"/>
          </a:xfrm>
          <a:prstGeom prst="rect"/>
        </p:spPr>
      </p:pic>
      <p:pic>
        <p:nvPicPr>
          <p:cNvPr id="5" name="Image 3" descr="https://test.web.static.jianzeppt.com/ppt-temp-img/50a0e7f087efbcd0f50cb5663f38b6a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02928" y="1163489"/>
            <a:ext cx="638473" cy="638065"/>
          </a:xfrm>
          <a:prstGeom prst="rect"/>
        </p:spPr>
      </p:pic>
      <p:pic>
        <p:nvPicPr>
          <p:cNvPr id="6" name="Image 4" descr="https://test.web.static.jianzeppt.com/ppt-temp-img/de6e468106d6e376747a7ea09f916f38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71340" y="1147399"/>
            <a:ext cx="638473" cy="638065"/>
          </a:xfrm>
          <a:prstGeom prst="rect"/>
        </p:spPr>
      </p:pic>
      <p:pic>
        <p:nvPicPr>
          <p:cNvPr id="7" name="Image 5" descr="https://test.web.static.jianzeppt.com/ppt-temp-img/0920bfebe478c70820698dd37bd2ba11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518336" y="1147396"/>
            <a:ext cx="638473" cy="638065"/>
          </a:xfrm>
          <a:prstGeom prst="rect"/>
        </p:spPr>
      </p:pic>
      <p:pic>
        <p:nvPicPr>
          <p:cNvPr id="8" name="Image 6" descr="https://test.web.static.jianzeppt.com/ppt-temp-img/49f211eacab254927bd2d784fbc15926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729843" y="1712899"/>
            <a:ext cx="47625" cy="428863"/>
          </a:xfrm>
          <a:prstGeom prst="rect"/>
        </p:spPr>
      </p:pic>
      <p:pic>
        <p:nvPicPr>
          <p:cNvPr id="9" name="Image 7" descr="https://test.web.static.jianzeppt.com/ppt-temp-img/abd451d14df227b5afb0498e4b141e59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098352" y="1706635"/>
            <a:ext cx="47625" cy="428784"/>
          </a:xfrm>
          <a:prstGeom prst="rect"/>
        </p:spPr>
      </p:pic>
      <p:pic>
        <p:nvPicPr>
          <p:cNvPr id="10" name="Image 8" descr="https://test.web.static.jianzeppt.com/ppt-temp-img/32dd55ab9855fe431fc38f0de6150b4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466764" y="1706554"/>
            <a:ext cx="47625" cy="428863"/>
          </a:xfrm>
          <a:prstGeom prst="rect"/>
        </p:spPr>
      </p:pic>
      <p:pic>
        <p:nvPicPr>
          <p:cNvPr id="11" name="Image 9" descr="https://test.web.static.jianzeppt.com/ppt-temp-img/8aacecf4a8bf8696360e3555f777f1f9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835270" y="1706615"/>
            <a:ext cx="47625" cy="428784"/>
          </a:xfrm>
          <a:prstGeom prst="rect"/>
        </p:spPr>
      </p:pic>
      <p:sp>
        <p:nvSpPr>
          <p:cNvPr id="12" name="Text 0"/>
          <p:cNvSpPr/>
          <p:nvPr/>
        </p:nvSpPr>
        <p:spPr>
          <a:xfrm>
            <a:off x="3917043" y="2259789"/>
            <a:ext cx="11292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CL总结</a:t>
            </a:r>
            <a:endParaRPr lang="en-US" sz="1200"/>
          </a:p>
        </p:txBody>
      </p:sp>
      <p:sp>
        <p:nvSpPr>
          <p:cNvPr id="13" name="Text 1"/>
          <p:cNvSpPr/>
          <p:nvPr/>
        </p:nvSpPr>
        <p:spPr>
          <a:xfrm>
            <a:off x="1189675" y="2251948"/>
            <a:ext cx="11292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HM总结</a:t>
            </a:r>
            <a:endParaRPr lang="en-US" sz="1200"/>
          </a:p>
        </p:txBody>
      </p:sp>
      <p:sp>
        <p:nvSpPr>
          <p:cNvPr id="14" name="Text 2"/>
          <p:cNvSpPr/>
          <p:nvPr/>
        </p:nvSpPr>
        <p:spPr>
          <a:xfrm>
            <a:off x="5314955" y="2500306"/>
            <a:ext cx="1137120" cy="121317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三种思想各有优劣，为金融市场的择时研究提供了多维度的视角。投资者和研究者可根据具体需求选择合适的模型。</a:t>
            </a:r>
            <a:endParaRPr lang="en-US" sz="1050"/>
          </a:p>
        </p:txBody>
      </p:sp>
      <p:sp>
        <p:nvSpPr>
          <p:cNvPr id="15" name="Text 3"/>
          <p:cNvSpPr/>
          <p:nvPr/>
        </p:nvSpPr>
        <p:spPr>
          <a:xfrm>
            <a:off x="5300029" y="2257677"/>
            <a:ext cx="1136961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思想意义</a:t>
            </a:r>
            <a:endParaRPr lang="en-US" sz="1200"/>
          </a:p>
        </p:txBody>
      </p:sp>
      <p:sp>
        <p:nvSpPr>
          <p:cNvPr id="16" name="Text 4"/>
          <p:cNvSpPr/>
          <p:nvPr/>
        </p:nvSpPr>
        <p:spPr>
          <a:xfrm>
            <a:off x="1189675" y="2486041"/>
            <a:ext cx="1137120" cy="103971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HM模型以市场好坏区分β值，能直观反映基金在不同市场状态下的策略切换。但它只能描述两段式β，对平滑调整的描述能力有限。</a:t>
            </a:r>
            <a:endParaRPr lang="en-US" sz="900"/>
          </a:p>
        </p:txBody>
      </p:sp>
      <p:sp>
        <p:nvSpPr>
          <p:cNvPr id="17" name="Text 5"/>
          <p:cNvSpPr/>
          <p:nvPr/>
        </p:nvSpPr>
        <p:spPr>
          <a:xfrm>
            <a:off x="2563119" y="2500306"/>
            <a:ext cx="1137120" cy="121317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TM模型通过凸性判断择时，能捕捉β随行情的连续变化。然而，二次项容易受极端点影响，解释起来不如HM直观。</a:t>
            </a:r>
            <a:endParaRPr lang="en-US" sz="1050"/>
          </a:p>
        </p:txBody>
      </p:sp>
      <p:sp>
        <p:nvSpPr>
          <p:cNvPr id="18" name="Text 6"/>
          <p:cNvSpPr/>
          <p:nvPr/>
        </p:nvSpPr>
        <p:spPr>
          <a:xfrm>
            <a:off x="3926948" y="2505560"/>
            <a:ext cx="1137120" cy="121317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CL模型基于HM进行实证扩展，提供了行业层面的择时证据。但它不是新模型，只是对HM的应用和统计发现。</a:t>
            </a:r>
            <a:endParaRPr lang="en-US" sz="1050"/>
          </a:p>
        </p:txBody>
      </p:sp>
      <p:sp>
        <p:nvSpPr>
          <p:cNvPr id="19" name="Text 7"/>
          <p:cNvSpPr/>
          <p:nvPr/>
        </p:nvSpPr>
        <p:spPr>
          <a:xfrm>
            <a:off x="2558150" y="2257677"/>
            <a:ext cx="11292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TM总结</a:t>
            </a:r>
            <a:endParaRPr lang="en-US" sz="1200"/>
          </a:p>
        </p:txBody>
      </p:sp>
      <p:sp>
        <p:nvSpPr>
          <p:cNvPr id="20" name="Text 8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思想总结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8" grpId="1" uiExpand="0" advAuto="indefinite" build="whole" animBg="1"/>
      <p1:bldP xmlns:p1="http://schemas.openxmlformats.org/presentationml/2006/main" spid="9" grpId="2" uiExpand="0" advAuto="indefinite" build="whole" animBg="1"/>
      <p1:bldP xmlns:p1="http://schemas.openxmlformats.org/presentationml/2006/main" spid="10" grpId="3" uiExpand="0" advAuto="indefinite" build="whole" animBg="1"/>
      <p1:bldP xmlns:p1="http://schemas.openxmlformats.org/presentationml/2006/main" spid="11" grpId="4" uiExpand="0" advAuto="indefinite" build="whole" animBg="1"/>
      <p1:bldP xmlns:p1="http://schemas.openxmlformats.org/presentationml/2006/main" spid="4" grpId="5" uiExpand="0" advAuto="indefinite" build="whole" animBg="1"/>
      <p1:bldP xmlns:p1="http://schemas.openxmlformats.org/presentationml/2006/main" spid="13" grpId="6" uiExpand="0" advAuto="indefinite" build="whole" animBg="1"/>
      <p1:bldP xmlns:p1="http://schemas.openxmlformats.org/presentationml/2006/main" spid="16" grpId="7" uiExpand="0" advAuto="indefinite" build="whole" animBg="1"/>
      <p1:bldP xmlns:p1="http://schemas.openxmlformats.org/presentationml/2006/main" spid="5" grpId="8" uiExpand="0" advAuto="indefinite" build="whole" animBg="1"/>
      <p1:bldP xmlns:p1="http://schemas.openxmlformats.org/presentationml/2006/main" spid="19" grpId="9" uiExpand="0" advAuto="indefinite" build="whole" animBg="1"/>
      <p1:bldP xmlns:p1="http://schemas.openxmlformats.org/presentationml/2006/main" spid="17" grpId="10" uiExpand="0" advAuto="indefinite" build="whole" animBg="1"/>
      <p1:bldP xmlns:p1="http://schemas.openxmlformats.org/presentationml/2006/main" spid="6" grpId="11" uiExpand="0" advAuto="indefinite" build="whole" animBg="1"/>
      <p1:bldP xmlns:p1="http://schemas.openxmlformats.org/presentationml/2006/main" spid="12" grpId="12" uiExpand="0" advAuto="indefinite" build="whole" animBg="1"/>
      <p1:bldP xmlns:p1="http://schemas.openxmlformats.org/presentationml/2006/main" spid="18" grpId="13" uiExpand="0" advAuto="indefinite" build="whole" animBg="1"/>
      <p1:bldP xmlns:p1="http://schemas.openxmlformats.org/presentationml/2006/main" spid="7" grpId="14" uiExpand="0" advAuto="indefinite" build="whole" animBg="1"/>
      <p1:bldP xmlns:p1="http://schemas.openxmlformats.org/presentationml/2006/main" spid="15" grpId="15" uiExpand="0" advAuto="indefinite" build="whole" animBg="1"/>
      <p1:bldP xmlns:p1="http://schemas.openxmlformats.org/presentationml/2006/main" spid="14" grpId="16" uiExpand="0" advAuto="indefinite" build="whol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Part.02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数学对比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模型数学形式对比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6383b97b18c6a16e43e8f873f62743f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805f690b272e1ebf06a859ddac09d13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1259" y="1244516"/>
            <a:ext cx="1537256" cy="2319422"/>
          </a:xfrm>
          <a:prstGeom prst="rect"/>
        </p:spPr>
      </p:pic>
      <p:pic>
        <p:nvPicPr>
          <p:cNvPr id="4" name="Image 2" descr="https://test.web.static.jianzeppt.com/ppt-temp-img/55cb1316146ec8879dc3be541370ff5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6197" y="1114673"/>
            <a:ext cx="1267381" cy="259686"/>
          </a:xfrm>
          <a:prstGeom prst="rect"/>
        </p:spPr>
      </p:pic>
      <p:pic>
        <p:nvPicPr>
          <p:cNvPr id="5" name="Image 3" descr="https://test.web.static.jianzeppt.com/ppt-temp-img/4f7511c80ac300a5550d92af9343f51a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11308" y="1244516"/>
            <a:ext cx="1537335" cy="2319422"/>
          </a:xfrm>
          <a:prstGeom prst="rect"/>
        </p:spPr>
      </p:pic>
      <p:pic>
        <p:nvPicPr>
          <p:cNvPr id="6" name="Image 4" descr="https://test.web.static.jianzeppt.com/ppt-temp-img/31b751d2aa3d1a9a86106c228403829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46325" y="1114673"/>
            <a:ext cx="1267301" cy="259686"/>
          </a:xfrm>
          <a:prstGeom prst="rect"/>
        </p:spPr>
      </p:pic>
      <p:pic>
        <p:nvPicPr>
          <p:cNvPr id="7" name="Image 5" descr="https://test.web.static.jianzeppt.com/ppt-temp-img/7fb947d1560276ebb344052fc67a5a1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71357" y="1244516"/>
            <a:ext cx="1537335" cy="2319422"/>
          </a:xfrm>
          <a:prstGeom prst="rect"/>
        </p:spPr>
      </p:pic>
      <p:pic>
        <p:nvPicPr>
          <p:cNvPr id="8" name="Image 6" descr="https://test.web.static.jianzeppt.com/ppt-temp-img/3cbe04feafc523dbae3519f543414dd1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06374" y="1114673"/>
            <a:ext cx="1267301" cy="259686"/>
          </a:xfrm>
          <a:prstGeom prst="rect"/>
        </p:spPr>
      </p:pic>
      <p:pic>
        <p:nvPicPr>
          <p:cNvPr id="9" name="Image 7" descr="https://test.web.static.jianzeppt.com/ppt-temp-img/a93edb3d8c8b4ea372e67a4558a322ab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531406" y="1244516"/>
            <a:ext cx="1537335" cy="2319422"/>
          </a:xfrm>
          <a:prstGeom prst="rect"/>
        </p:spPr>
      </p:pic>
      <p:pic>
        <p:nvPicPr>
          <p:cNvPr id="10" name="Image 8" descr="https://test.web.static.jianzeppt.com/ppt-temp-img/a8be23c00a6fa7c2c111af2ff58515a9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666422" y="1114673"/>
            <a:ext cx="1267301" cy="259686"/>
          </a:xfrm>
          <a:prstGeom prst="rect"/>
        </p:spPr>
      </p:pic>
      <p:sp>
        <p:nvSpPr>
          <p:cNvPr id="11" name="Text 0"/>
          <p:cNvSpPr/>
          <p:nvPr/>
        </p:nvSpPr>
        <p:spPr>
          <a:xfrm>
            <a:off x="695373" y="1652469"/>
            <a:ext cx="125815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30"/>
          </a:p>
        </p:txBody>
      </p:sp>
      <p:sp>
        <p:nvSpPr>
          <p:cNvPr id="12" name="Text 1"/>
          <p:cNvSpPr/>
          <p:nvPr/>
        </p:nvSpPr>
        <p:spPr>
          <a:xfrm>
            <a:off x="4015512" y="1652469"/>
            <a:ext cx="125815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30"/>
          </a:p>
        </p:txBody>
      </p:sp>
      <p:sp>
        <p:nvSpPr>
          <p:cNvPr id="13" name="Text 2"/>
          <p:cNvSpPr/>
          <p:nvPr/>
        </p:nvSpPr>
        <p:spPr>
          <a:xfrm>
            <a:off x="2355458" y="1652469"/>
            <a:ext cx="125815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30"/>
          </a:p>
        </p:txBody>
      </p:sp>
      <p:sp>
        <p:nvSpPr>
          <p:cNvPr id="14" name="Text 3"/>
          <p:cNvSpPr/>
          <p:nvPr/>
        </p:nvSpPr>
        <p:spPr>
          <a:xfrm>
            <a:off x="5675596" y="1652469"/>
            <a:ext cx="125815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30"/>
          </a:p>
        </p:txBody>
      </p:sp>
      <p:sp>
        <p:nvSpPr>
          <p:cNvPr id="15" name="Text 4"/>
          <p:cNvSpPr/>
          <p:nvPr/>
        </p:nvSpPr>
        <p:spPr>
          <a:xfrm>
            <a:off x="2340266" y="2151856"/>
            <a:ext cx="1288576" cy="1188244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公式$R_{p,t} = \alpha + \beta_1 R_{m,t} + \beta_2 D_t R_{m,t} + \varepsilon_t$中，$D_t$表示市场状态。该公式能清晰反映基金在不同市场状态下的收益情况。</a:t>
            </a:r>
            <a:endParaRPr lang="en-US" sz="900"/>
          </a:p>
        </p:txBody>
      </p:sp>
      <p:sp>
        <p:nvSpPr>
          <p:cNvPr id="16" name="Text 5"/>
          <p:cNvSpPr/>
          <p:nvPr/>
        </p:nvSpPr>
        <p:spPr>
          <a:xfrm>
            <a:off x="743372" y="1145545"/>
            <a:ext cx="116216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两段式β</a:t>
            </a:r>
            <a:endParaRPr lang="en-US" sz="1200"/>
          </a:p>
        </p:txBody>
      </p:sp>
      <p:sp>
        <p:nvSpPr>
          <p:cNvPr id="17" name="Text 6"/>
          <p:cNvSpPr/>
          <p:nvPr/>
        </p:nvSpPr>
        <p:spPr>
          <a:xfrm>
            <a:off x="5723595" y="1145545"/>
            <a:ext cx="116216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局限性</a:t>
            </a:r>
            <a:endParaRPr lang="en-US" sz="1200"/>
          </a:p>
        </p:txBody>
      </p:sp>
      <p:sp>
        <p:nvSpPr>
          <p:cNvPr id="18" name="Text 7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HM数学</a:t>
            </a:r>
            <a:endParaRPr lang="en-US" sz="1600"/>
          </a:p>
        </p:txBody>
      </p:sp>
      <p:sp>
        <p:nvSpPr>
          <p:cNvPr id="19" name="Text 8"/>
          <p:cNvSpPr/>
          <p:nvPr/>
        </p:nvSpPr>
        <p:spPr>
          <a:xfrm>
            <a:off x="680182" y="2151856"/>
            <a:ext cx="1288576" cy="121317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HM模型采用两段式β，即上行β和下行β不同。当市场好时，β值为上行β；市场坏时，β值为下行β。关键指标是β₂，β₂ &gt; 0表示正向择时。</a:t>
            </a:r>
            <a:endParaRPr lang="en-US" sz="1050"/>
          </a:p>
        </p:txBody>
      </p:sp>
      <p:sp>
        <p:nvSpPr>
          <p:cNvPr id="20" name="Text 9"/>
          <p:cNvSpPr/>
          <p:nvPr/>
        </p:nvSpPr>
        <p:spPr>
          <a:xfrm>
            <a:off x="2403456" y="1145545"/>
            <a:ext cx="116216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公式含义</a:t>
            </a:r>
            <a:endParaRPr lang="en-US" sz="1200"/>
          </a:p>
        </p:txBody>
      </p:sp>
      <p:sp>
        <p:nvSpPr>
          <p:cNvPr id="21" name="Text 10"/>
          <p:cNvSpPr/>
          <p:nvPr/>
        </p:nvSpPr>
        <p:spPr>
          <a:xfrm>
            <a:off x="4000320" y="2151856"/>
            <a:ext cx="1288576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适用于市场波动较大、有明显涨跌趋势的情况。例如，在经济周期的不同阶段，基金可根据市场状态调整β值。</a:t>
            </a:r>
            <a:endParaRPr lang="en-US" sz="1050"/>
          </a:p>
        </p:txBody>
      </p:sp>
      <p:sp>
        <p:nvSpPr>
          <p:cNvPr id="22" name="Text 11"/>
          <p:cNvSpPr/>
          <p:nvPr/>
        </p:nvSpPr>
        <p:spPr>
          <a:xfrm>
            <a:off x="4063510" y="1145545"/>
            <a:ext cx="116216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应用场景</a:t>
            </a:r>
            <a:endParaRPr lang="en-US" sz="1200"/>
          </a:p>
        </p:txBody>
      </p:sp>
      <p:sp>
        <p:nvSpPr>
          <p:cNvPr id="23" name="Text 12"/>
          <p:cNvSpPr/>
          <p:nvPr/>
        </p:nvSpPr>
        <p:spPr>
          <a:xfrm>
            <a:off x="5660405" y="2151856"/>
            <a:ext cx="1288576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只能描述两段式β，无法准确描述基金在市场连续变化中的平滑调整。对于市场状态复杂的情况，其适用性有限。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11" grpId="0" uiExpand="0" advAuto="indefinite" build="whole" animBg="1"/>
      <p1:bldP xmlns:p1="http://schemas.openxmlformats.org/presentationml/2006/main" spid="4" grpId="1" uiExpand="0" advAuto="indefinite" build="whole" animBg="1"/>
      <p1:bldP xmlns:p1="http://schemas.openxmlformats.org/presentationml/2006/main" spid="3" grpId="2" uiExpand="0" advAuto="indefinite" build="whole" animBg="1"/>
      <p1:bldP xmlns:p1="http://schemas.openxmlformats.org/presentationml/2006/main" spid="16" grpId="3" uiExpand="0" advAuto="indefinite" build="whole" animBg="1"/>
      <p1:bldP xmlns:p1="http://schemas.openxmlformats.org/presentationml/2006/main" spid="19" grpId="4" uiExpand="0" advAuto="indefinite" build="whole" animBg="1"/>
      <p1:bldP xmlns:p1="http://schemas.openxmlformats.org/presentationml/2006/main" spid="13" grpId="5" uiExpand="0" advAuto="indefinite" build="whole" animBg="1"/>
      <p1:bldP xmlns:p1="http://schemas.openxmlformats.org/presentationml/2006/main" spid="6" grpId="6" uiExpand="0" advAuto="indefinite" build="whole" animBg="1"/>
      <p1:bldP xmlns:p1="http://schemas.openxmlformats.org/presentationml/2006/main" spid="5" grpId="7" uiExpand="0" advAuto="indefinite" build="whole" animBg="1"/>
      <p1:bldP xmlns:p1="http://schemas.openxmlformats.org/presentationml/2006/main" spid="20" grpId="8" uiExpand="0" advAuto="indefinite" build="whole" animBg="1"/>
      <p1:bldP xmlns:p1="http://schemas.openxmlformats.org/presentationml/2006/main" spid="15" grpId="9" uiExpand="0" advAuto="indefinite" build="whole" animBg="1"/>
      <p1:bldP xmlns:p1="http://schemas.openxmlformats.org/presentationml/2006/main" spid="12" grpId="10" uiExpand="0" advAuto="indefinite" build="whole" animBg="1"/>
      <p1:bldP xmlns:p1="http://schemas.openxmlformats.org/presentationml/2006/main" spid="8" grpId="11" uiExpand="0" advAuto="indefinite" build="whole" animBg="1"/>
      <p1:bldP xmlns:p1="http://schemas.openxmlformats.org/presentationml/2006/main" spid="7" grpId="12" uiExpand="0" advAuto="indefinite" build="whole" animBg="1"/>
      <p1:bldP xmlns:p1="http://schemas.openxmlformats.org/presentationml/2006/main" spid="22" grpId="13" uiExpand="0" advAuto="indefinite" build="whole" animBg="1"/>
      <p1:bldP xmlns:p1="http://schemas.openxmlformats.org/presentationml/2006/main" spid="21" grpId="14" uiExpand="0" advAuto="indefinite" build="whole" animBg="1"/>
      <p1:bldP xmlns:p1="http://schemas.openxmlformats.org/presentationml/2006/main" spid="14" grpId="15" uiExpand="0" advAuto="indefinite" build="whole" animBg="1"/>
      <p1:bldP xmlns:p1="http://schemas.openxmlformats.org/presentationml/2006/main" spid="10" grpId="16" uiExpand="0" advAuto="indefinite" build="whole" animBg="1"/>
      <p1:bldP xmlns:p1="http://schemas.openxmlformats.org/presentationml/2006/main" spid="9" grpId="17" uiExpand="0" advAuto="indefinite" build="whole" animBg="1"/>
      <p1:bldP xmlns:p1="http://schemas.openxmlformats.org/presentationml/2006/main" spid="17" grpId="18" uiExpand="0" advAuto="indefinite" build="whole" animBg="1"/>
      <p1:bldP xmlns:p1="http://schemas.openxmlformats.org/presentationml/2006/main" spid="23" grpId="19" uiExpand="0" advAuto="indefinite" build="whol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75f248cdc427387bfb5d3d07fe0bd0bc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43cfd2b89c66c79d7360f5c0db64d74a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792778"/>
            <a:ext cx="7199313" cy="487454"/>
          </a:xfrm>
          <a:prstGeom prst="rect"/>
        </p:spPr>
      </p:pic>
      <p:pic>
        <p:nvPicPr>
          <p:cNvPr id="4" name="Image 2" descr="https://test.web.static.jianzeppt.com/ppt-temp-img/78ea4608450f6ad809e231b9593e4b1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3587" y="1734243"/>
            <a:ext cx="723186" cy="578734"/>
          </a:xfrm>
          <a:prstGeom prst="rect"/>
        </p:spPr>
      </p:pic>
      <p:pic>
        <p:nvPicPr>
          <p:cNvPr id="5" name="Image 3" descr="https://test.web.static.jianzeppt.com/ppt-temp-img/024f31c46d7a3fd1be703498d5aac0f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338467" y="1734243"/>
            <a:ext cx="723265" cy="578734"/>
          </a:xfrm>
          <a:prstGeom prst="rect"/>
        </p:spPr>
      </p:pic>
      <p:pic>
        <p:nvPicPr>
          <p:cNvPr id="6" name="Image 4" descr="https://test.web.static.jianzeppt.com/ppt-temp-img/1aecc05353303a88e7e5761afc91d428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13426" y="1734243"/>
            <a:ext cx="723265" cy="578734"/>
          </a:xfrm>
          <a:prstGeom prst="rect"/>
        </p:spPr>
      </p:pic>
      <p:pic>
        <p:nvPicPr>
          <p:cNvPr id="7" name="Image 5" descr="https://test.web.static.jianzeppt.com/ppt-temp-img/53ed57d951ff18b2663daa69f5e2c947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88384" y="1734243"/>
            <a:ext cx="723186" cy="578734"/>
          </a:xfrm>
          <a:prstGeom prst="rect"/>
        </p:spPr>
      </p:pic>
      <p:sp>
        <p:nvSpPr>
          <p:cNvPr id="8" name="Text 0"/>
          <p:cNvSpPr/>
          <p:nvPr/>
        </p:nvSpPr>
        <p:spPr>
          <a:xfrm>
            <a:off x="4167287" y="1910420"/>
            <a:ext cx="224662" cy="231391"/>
          </a:xfrm>
          <a:prstGeom prst="rect"/>
          <a:noFill/>
        </p:spPr>
        <p:txBody>
          <a:bodyPr wrap="non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250"/>
              </a:lnSpc>
              <a:buNone/>
            </a:pPr>
            <a:r>
              <a:rPr lang="en-US" sz="1500" b="1" dirty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/>
          </a:p>
        </p:txBody>
      </p:sp>
      <p:sp>
        <p:nvSpPr>
          <p:cNvPr id="9" name="Text 1"/>
          <p:cNvSpPr/>
          <p:nvPr/>
        </p:nvSpPr>
        <p:spPr>
          <a:xfrm>
            <a:off x="1017401" y="1910420"/>
            <a:ext cx="224662" cy="231391"/>
          </a:xfrm>
          <a:prstGeom prst="rect"/>
          <a:noFill/>
        </p:spPr>
        <p:txBody>
          <a:bodyPr wrap="non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250"/>
              </a:lnSpc>
              <a:buNone/>
            </a:pPr>
            <a:r>
              <a:rPr lang="en-US" sz="1500" b="1" dirty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/>
          </a:p>
        </p:txBody>
      </p:sp>
      <p:sp>
        <p:nvSpPr>
          <p:cNvPr id="10" name="Text 2"/>
          <p:cNvSpPr/>
          <p:nvPr/>
        </p:nvSpPr>
        <p:spPr>
          <a:xfrm>
            <a:off x="2592313" y="1910420"/>
            <a:ext cx="224662" cy="231391"/>
          </a:xfrm>
          <a:prstGeom prst="rect"/>
          <a:noFill/>
        </p:spPr>
        <p:txBody>
          <a:bodyPr wrap="non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250"/>
              </a:lnSpc>
              <a:buNone/>
            </a:pPr>
            <a:r>
              <a:rPr lang="en-US" sz="150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/>
          </a:p>
        </p:txBody>
      </p:sp>
      <p:sp>
        <p:nvSpPr>
          <p:cNvPr id="11" name="Text 3"/>
          <p:cNvSpPr/>
          <p:nvPr/>
        </p:nvSpPr>
        <p:spPr>
          <a:xfrm>
            <a:off x="5742198" y="1910420"/>
            <a:ext cx="224662" cy="231391"/>
          </a:xfrm>
          <a:prstGeom prst="rect"/>
          <a:noFill/>
        </p:spPr>
        <p:txBody>
          <a:bodyPr wrap="non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250"/>
              </a:lnSpc>
              <a:buNone/>
            </a:pPr>
            <a:r>
              <a:rPr lang="en-US" sz="150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/>
          </a:p>
        </p:txBody>
      </p:sp>
      <p:sp>
        <p:nvSpPr>
          <p:cNvPr id="12" name="Text 4"/>
          <p:cNvSpPr/>
          <p:nvPr/>
        </p:nvSpPr>
        <p:spPr>
          <a:xfrm>
            <a:off x="3717616" y="2909717"/>
            <a:ext cx="1144397" cy="8911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适用于市场相对平稳、有一定连续性变化的情况。比如，在长期的市场趋势中，基金可通过调整β值实现收益最大化。</a:t>
            </a:r>
            <a:endParaRPr lang="en-US" sz="900"/>
          </a:p>
        </p:txBody>
      </p:sp>
      <p:sp>
        <p:nvSpPr>
          <p:cNvPr id="13" name="Text 5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TM数学</a:t>
            </a:r>
            <a:endParaRPr lang="en-US" sz="1600"/>
          </a:p>
        </p:txBody>
      </p:sp>
      <p:sp>
        <p:nvSpPr>
          <p:cNvPr id="14" name="Text 6"/>
          <p:cNvSpPr/>
          <p:nvPr/>
        </p:nvSpPr>
        <p:spPr>
          <a:xfrm>
            <a:off x="2132465" y="2629384"/>
            <a:ext cx="114439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公式原理</a:t>
            </a:r>
            <a:endParaRPr lang="en-US" sz="1200"/>
          </a:p>
        </p:txBody>
      </p:sp>
      <p:sp>
        <p:nvSpPr>
          <p:cNvPr id="15" name="Text 7"/>
          <p:cNvSpPr/>
          <p:nvPr/>
        </p:nvSpPr>
        <p:spPr>
          <a:xfrm>
            <a:off x="5297632" y="2909717"/>
            <a:ext cx="1144397" cy="8911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二次项容易受极端点影响，可能导致对择时能力的误判。而且，其解释不如HM模型直观，需要一定的专业知识。</a:t>
            </a:r>
            <a:endParaRPr lang="en-US" sz="900"/>
          </a:p>
        </p:txBody>
      </p:sp>
      <p:sp>
        <p:nvSpPr>
          <p:cNvPr id="16" name="Text 8"/>
          <p:cNvSpPr/>
          <p:nvPr/>
        </p:nvSpPr>
        <p:spPr>
          <a:xfrm>
            <a:off x="557554" y="2909717"/>
            <a:ext cx="1144397" cy="103971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TM模型的关键在于收益曲线的二次项，即γ。γ &gt; 0表示正向择时，体现收益曲线的凸性。这意味着基金在市场变化时能更灵活地调整策略。</a:t>
            </a:r>
            <a:endParaRPr lang="en-US" sz="900"/>
          </a:p>
        </p:txBody>
      </p:sp>
      <p:sp>
        <p:nvSpPr>
          <p:cNvPr id="17" name="Text 9"/>
          <p:cNvSpPr/>
          <p:nvPr/>
        </p:nvSpPr>
        <p:spPr>
          <a:xfrm>
            <a:off x="5282319" y="2629384"/>
            <a:ext cx="114439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潜在问题</a:t>
            </a:r>
            <a:endParaRPr lang="en-US" sz="1200"/>
          </a:p>
        </p:txBody>
      </p:sp>
      <p:sp>
        <p:nvSpPr>
          <p:cNvPr id="18" name="Text 10"/>
          <p:cNvSpPr/>
          <p:nvPr/>
        </p:nvSpPr>
        <p:spPr>
          <a:xfrm>
            <a:off x="557554" y="2629384"/>
            <a:ext cx="114439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二次项凸性</a:t>
            </a:r>
            <a:endParaRPr lang="en-US" sz="1200"/>
          </a:p>
        </p:txBody>
      </p:sp>
      <p:sp>
        <p:nvSpPr>
          <p:cNvPr id="19" name="Text 11"/>
          <p:cNvSpPr/>
          <p:nvPr/>
        </p:nvSpPr>
        <p:spPr>
          <a:xfrm>
            <a:off x="2137569" y="2909717"/>
            <a:ext cx="1144397" cy="866775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975"/>
              </a:lnSpc>
              <a:buNone/>
            </a:pPr>
            <a:r>
              <a:rPr lang="en-US" sz="7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公式$R_{p,t} = \alpha + \beta R_{m,t} + \gamma R_{m,t}^2 + \varepsilon_t$通过二次项反映收益与市场的非线性关系。它能捕捉到基金在市场变化中的细微调整。</a:t>
            </a:r>
            <a:endParaRPr lang="en-US" sz="750"/>
          </a:p>
        </p:txBody>
      </p:sp>
      <p:sp>
        <p:nvSpPr>
          <p:cNvPr id="20" name="Text 12"/>
          <p:cNvSpPr/>
          <p:nvPr/>
        </p:nvSpPr>
        <p:spPr>
          <a:xfrm>
            <a:off x="3707408" y="2629384"/>
            <a:ext cx="114439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适用情况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4" grpId="1" uiExpand="0" advAuto="indefinite" build="whole" animBg="1"/>
      <p1:bldP xmlns:p1="http://schemas.openxmlformats.org/presentationml/2006/main" spid="5" grpId="2" uiExpand="0" advAuto="indefinite" build="whole" animBg="1"/>
      <p1:bldP xmlns:p1="http://schemas.openxmlformats.org/presentationml/2006/main" spid="6" grpId="3" uiExpand="0" advAuto="indefinite" build="whole" animBg="1"/>
      <p1:bldP xmlns:p1="http://schemas.openxmlformats.org/presentationml/2006/main" spid="7" grpId="4" uiExpand="0" advAuto="indefinite" build="whole" animBg="1"/>
      <p1:bldP xmlns:p1="http://schemas.openxmlformats.org/presentationml/2006/main" spid="9" grpId="5" uiExpand="0" advAuto="indefinite" build="whole" animBg="1"/>
      <p1:bldP xmlns:p1="http://schemas.openxmlformats.org/presentationml/2006/main" spid="18" grpId="6" uiExpand="0" advAuto="indefinite" build="whole" animBg="1"/>
      <p1:bldP xmlns:p1="http://schemas.openxmlformats.org/presentationml/2006/main" spid="16" grpId="7" uiExpand="0" advAuto="indefinite" build="whole" animBg="1"/>
      <p1:bldP xmlns:p1="http://schemas.openxmlformats.org/presentationml/2006/main" spid="10" grpId="8" uiExpand="0" advAuto="indefinite" build="whole" animBg="1"/>
      <p1:bldP xmlns:p1="http://schemas.openxmlformats.org/presentationml/2006/main" spid="14" grpId="9" uiExpand="0" advAuto="indefinite" build="whole" animBg="1"/>
      <p1:bldP xmlns:p1="http://schemas.openxmlformats.org/presentationml/2006/main" spid="19" grpId="10" uiExpand="0" advAuto="indefinite" build="whole" animBg="1"/>
      <p1:bldP xmlns:p1="http://schemas.openxmlformats.org/presentationml/2006/main" spid="8" grpId="11" uiExpand="0" advAuto="indefinite" build="whole" animBg="1"/>
      <p1:bldP xmlns:p1="http://schemas.openxmlformats.org/presentationml/2006/main" spid="20" grpId="12" uiExpand="0" advAuto="indefinite" build="whole" animBg="1"/>
      <p1:bldP xmlns:p1="http://schemas.openxmlformats.org/presentationml/2006/main" spid="12" grpId="13" uiExpand="0" advAuto="indefinite" build="whole" animBg="1"/>
      <p1:bldP xmlns:p1="http://schemas.openxmlformats.org/presentationml/2006/main" spid="11" grpId="14" uiExpand="0" advAuto="indefinite" build="whole" animBg="1"/>
      <p1:bldP xmlns:p1="http://schemas.openxmlformats.org/presentationml/2006/main" spid="17" grpId="15" uiExpand="0" advAuto="indefinite" build="whole" animBg="1"/>
      <p1:bldP xmlns:p1="http://schemas.openxmlformats.org/presentationml/2006/main" spid="15" grpId="16" uiExpand="0" advAuto="indefinite" build="whol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6f80b9c661cd1718a400e13fba0bd06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845c372cfe2e174a2b56ef24951dff98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2750" y="1310581"/>
            <a:ext cx="6786563" cy="171450"/>
          </a:xfrm>
          <a:prstGeom prst="rect"/>
        </p:spPr>
      </p:pic>
      <p:pic>
        <p:nvPicPr>
          <p:cNvPr id="4" name="Image 2" descr="https://test.web.static.jianzeppt.com/ppt-temp-img/e8b53ef8d46b0274c8ce909466f281f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02731" y="2328615"/>
            <a:ext cx="591344" cy="591197"/>
          </a:xfrm>
          <a:prstGeom prst="rect"/>
        </p:spPr>
      </p:pic>
      <p:pic>
        <p:nvPicPr>
          <p:cNvPr id="5" name="Image 3" descr="https://test.web.static.jianzeppt.com/ppt-temp-img/28b06e49c93ea041d47b3f4546fa608a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00034" y="2526052"/>
            <a:ext cx="196728" cy="196286"/>
          </a:xfrm>
          <a:prstGeom prst="rect"/>
        </p:spPr>
      </p:pic>
      <p:pic>
        <p:nvPicPr>
          <p:cNvPr id="6" name="Image 4" descr="https://test.web.static.jianzeppt.com/ppt-temp-img/f3c6e1f35a2cffa0604475043c0b83a9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058269" y="1356619"/>
            <a:ext cx="79375" cy="971996"/>
          </a:xfrm>
          <a:prstGeom prst="rect"/>
        </p:spPr>
      </p:pic>
      <p:pic>
        <p:nvPicPr>
          <p:cNvPr id="7" name="Image 5" descr="https://test.web.static.jianzeppt.com/ppt-temp-img/c6553947ec6ed68b616273374b7404c7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460081" y="2328615"/>
            <a:ext cx="591344" cy="591197"/>
          </a:xfrm>
          <a:prstGeom prst="rect"/>
        </p:spPr>
      </p:pic>
      <p:pic>
        <p:nvPicPr>
          <p:cNvPr id="8" name="Image 6" descr="https://test.web.static.jianzeppt.com/ppt-temp-img/6c686db4658205637ff059d48392b029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58508" y="2526067"/>
            <a:ext cx="196728" cy="196286"/>
          </a:xfrm>
          <a:prstGeom prst="rect"/>
        </p:spPr>
      </p:pic>
      <p:pic>
        <p:nvPicPr>
          <p:cNvPr id="9" name="Image 7" descr="https://test.web.static.jianzeppt.com/ppt-temp-img/32f6d1e8ca2aa878836ad62db5943712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717207" y="1356619"/>
            <a:ext cx="79375" cy="971996"/>
          </a:xfrm>
          <a:prstGeom prst="rect"/>
        </p:spPr>
      </p:pic>
      <p:pic>
        <p:nvPicPr>
          <p:cNvPr id="10" name="Image 8" descr="https://test.web.static.jianzeppt.com/ppt-temp-img/23fb1b178e98cef54054c6f5a7705205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118225" y="2328615"/>
            <a:ext cx="591344" cy="591197"/>
          </a:xfrm>
          <a:prstGeom prst="rect"/>
        </p:spPr>
      </p:pic>
      <p:pic>
        <p:nvPicPr>
          <p:cNvPr id="11" name="Image 9" descr="https://test.web.static.jianzeppt.com/ppt-temp-img/4ee148ecb2d54b0a85df4b654697b487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30129" y="2549026"/>
            <a:ext cx="196728" cy="196286"/>
          </a:xfrm>
          <a:prstGeom prst="rect"/>
        </p:spPr>
      </p:pic>
      <p:pic>
        <p:nvPicPr>
          <p:cNvPr id="12" name="Image 10" descr="https://test.web.static.jianzeppt.com/ppt-temp-img/d2db5a76a88b3a8d54aee279cdc22c54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376194" y="1356619"/>
            <a:ext cx="79375" cy="971996"/>
          </a:xfrm>
          <a:prstGeom prst="rect"/>
        </p:spPr>
      </p:pic>
      <p:pic>
        <p:nvPicPr>
          <p:cNvPr id="13" name="Image 11" descr="https://test.web.static.jianzeppt.com/ppt-temp-img/94951cbd324239498914d5f8d4847c7c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56944" y="2265957"/>
            <a:ext cx="650903" cy="650696"/>
          </a:xfrm>
          <a:prstGeom prst="rect"/>
        </p:spPr>
      </p:pic>
      <p:pic>
        <p:nvPicPr>
          <p:cNvPr id="14" name="Image 12" descr="https://test.web.static.jianzeppt.com/ppt-temp-img/93b386d811766b140061715c37ebd02f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183376" y="2509816"/>
            <a:ext cx="196728" cy="196286"/>
          </a:xfrm>
          <a:prstGeom prst="rect"/>
        </p:spPr>
      </p:pic>
      <p:pic>
        <p:nvPicPr>
          <p:cNvPr id="15" name="Image 13" descr="https://test.web.static.jianzeppt.com/ppt-temp-img/953b40f0448747c85abf1939b5832f02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344210" y="1352947"/>
            <a:ext cx="266646" cy="952167"/>
          </a:xfrm>
          <a:prstGeom prst="rect"/>
        </p:spPr>
      </p:pic>
      <p:sp>
        <p:nvSpPr>
          <p:cNvPr id="16" name="Text 0"/>
          <p:cNvSpPr/>
          <p:nvPr/>
        </p:nvSpPr>
        <p:spPr>
          <a:xfrm>
            <a:off x="2327771" y="3143871"/>
            <a:ext cx="154028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数学形式</a:t>
            </a:r>
            <a:endParaRPr lang="en-US" sz="1200"/>
          </a:p>
        </p:txBody>
      </p:sp>
      <p:sp>
        <p:nvSpPr>
          <p:cNvPr id="17" name="Text 1"/>
          <p:cNvSpPr/>
          <p:nvPr/>
        </p:nvSpPr>
        <p:spPr>
          <a:xfrm>
            <a:off x="2332942" y="3356503"/>
            <a:ext cx="1549518" cy="54471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其数学形式与HM相似，但作用是进行大样本检验和统计推断。通过对大量基金数据的分析，得出行业层面的择时结论。</a:t>
            </a:r>
            <a:endParaRPr lang="en-US" sz="830"/>
          </a:p>
        </p:txBody>
      </p:sp>
      <p:sp>
        <p:nvSpPr>
          <p:cNvPr id="18" name="Text 2"/>
          <p:cNvSpPr/>
          <p:nvPr/>
        </p:nvSpPr>
        <p:spPr>
          <a:xfrm>
            <a:off x="5643662" y="3143871"/>
            <a:ext cx="154028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不足之处</a:t>
            </a:r>
            <a:endParaRPr lang="en-US" sz="1200"/>
          </a:p>
        </p:txBody>
      </p:sp>
      <p:sp>
        <p:nvSpPr>
          <p:cNvPr id="19" name="Text 3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CL数学</a:t>
            </a:r>
            <a:endParaRPr lang="en-US" sz="1600"/>
          </a:p>
        </p:txBody>
      </p:sp>
      <p:sp>
        <p:nvSpPr>
          <p:cNvPr id="20" name="Text 4"/>
          <p:cNvSpPr/>
          <p:nvPr/>
        </p:nvSpPr>
        <p:spPr>
          <a:xfrm>
            <a:off x="5658277" y="3356503"/>
            <a:ext cx="1549518" cy="59412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不提供新的模型，只是对HM模型的应用和统计发现。在某些情况下，可能无法准确反映个别基金的择时能力。</a:t>
            </a:r>
            <a:endParaRPr lang="en-US" sz="900"/>
          </a:p>
        </p:txBody>
      </p:sp>
      <p:sp>
        <p:nvSpPr>
          <p:cNvPr id="21" name="Text 5"/>
          <p:cNvSpPr/>
          <p:nvPr/>
        </p:nvSpPr>
        <p:spPr>
          <a:xfrm>
            <a:off x="512316" y="3356503"/>
            <a:ext cx="1549518" cy="59412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CL模型是HM模型的实证扩展，采用HM的两段式β框架。它通过大规模样本检验基金是否总体形成择时行为。</a:t>
            </a:r>
            <a:endParaRPr lang="en-US" sz="900"/>
          </a:p>
        </p:txBody>
      </p:sp>
      <p:sp>
        <p:nvSpPr>
          <p:cNvPr id="22" name="Text 6"/>
          <p:cNvSpPr/>
          <p:nvPr/>
        </p:nvSpPr>
        <p:spPr>
          <a:xfrm>
            <a:off x="3995485" y="3356503"/>
            <a:ext cx="1549518" cy="59412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为金融行业提供了关于基金择时能力的实证证据。有助于投资者了解行业整体情况，做出更合理的投资决策。</a:t>
            </a:r>
            <a:endParaRPr lang="en-US" sz="900"/>
          </a:p>
        </p:txBody>
      </p:sp>
      <p:sp>
        <p:nvSpPr>
          <p:cNvPr id="23" name="Text 7"/>
          <p:cNvSpPr/>
          <p:nvPr/>
        </p:nvSpPr>
        <p:spPr>
          <a:xfrm>
            <a:off x="512316" y="3143872"/>
            <a:ext cx="1547991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实证扩展</a:t>
            </a:r>
            <a:endParaRPr lang="en-US" sz="1200"/>
          </a:p>
        </p:txBody>
      </p:sp>
      <p:sp>
        <p:nvSpPr>
          <p:cNvPr id="24" name="Text 8"/>
          <p:cNvSpPr/>
          <p:nvPr/>
        </p:nvSpPr>
        <p:spPr>
          <a:xfrm>
            <a:off x="3985592" y="3143871"/>
            <a:ext cx="1547991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研究价值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50"/>
                            </p:stCondLst>
                            <p:childTnLst>
                              <p:par>
                                <p:cTn id="47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0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15" grpId="1" uiExpand="0" advAuto="indefinite" build="whole" animBg="1"/>
      <p1:bldP xmlns:p1="http://schemas.openxmlformats.org/presentationml/2006/main" spid="6" grpId="2" uiExpand="0" advAuto="indefinite" build="whole" animBg="1"/>
      <p1:bldP xmlns:p1="http://schemas.openxmlformats.org/presentationml/2006/main" spid="9" grpId="3" uiExpand="0" advAuto="indefinite" build="whole" animBg="1"/>
      <p1:bldP xmlns:p1="http://schemas.openxmlformats.org/presentationml/2006/main" spid="12" grpId="4" uiExpand="0" advAuto="indefinite" build="whole" animBg="1"/>
      <p1:bldP xmlns:p1="http://schemas.openxmlformats.org/presentationml/2006/main" spid="13" grpId="5" uiExpand="0" advAuto="indefinite" build="whole" animBg="1"/>
      <p1:bldP xmlns:p1="http://schemas.openxmlformats.org/presentationml/2006/main" spid="14" grpId="6" uiExpand="0" advAuto="indefinite" build="whole" animBg="1"/>
      <p1:bldP xmlns:p1="http://schemas.openxmlformats.org/presentationml/2006/main" spid="23" grpId="7" uiExpand="0" advAuto="indefinite" build="whole" animBg="1"/>
      <p1:bldP xmlns:p1="http://schemas.openxmlformats.org/presentationml/2006/main" spid="21" grpId="8" uiExpand="0" advAuto="indefinite" build="whole" animBg="1"/>
      <p1:bldP xmlns:p1="http://schemas.openxmlformats.org/presentationml/2006/main" spid="4" grpId="9" uiExpand="0" advAuto="indefinite" build="whole" animBg="1"/>
      <p1:bldP xmlns:p1="http://schemas.openxmlformats.org/presentationml/2006/main" spid="5" grpId="10" uiExpand="0" advAuto="indefinite" build="whole" animBg="1"/>
      <p1:bldP xmlns:p1="http://schemas.openxmlformats.org/presentationml/2006/main" spid="16" grpId="11" uiExpand="0" advAuto="indefinite" build="whole" animBg="1"/>
      <p1:bldP xmlns:p1="http://schemas.openxmlformats.org/presentationml/2006/main" spid="17" grpId="12" uiExpand="0" advAuto="indefinite" build="whole" animBg="1"/>
      <p1:bldP xmlns:p1="http://schemas.openxmlformats.org/presentationml/2006/main" spid="7" grpId="13" uiExpand="0" advAuto="indefinite" build="whole" animBg="1"/>
      <p1:bldP xmlns:p1="http://schemas.openxmlformats.org/presentationml/2006/main" spid="8" grpId="14" uiExpand="0" advAuto="indefinite" build="whole" animBg="1"/>
      <p1:bldP xmlns:p1="http://schemas.openxmlformats.org/presentationml/2006/main" spid="24" grpId="15" uiExpand="0" advAuto="indefinite" build="whole" animBg="1"/>
      <p1:bldP xmlns:p1="http://schemas.openxmlformats.org/presentationml/2006/main" spid="22" grpId="16" uiExpand="0" advAuto="indefinite" build="whole" animBg="1"/>
      <p1:bldP xmlns:p1="http://schemas.openxmlformats.org/presentationml/2006/main" spid="10" grpId="17" uiExpand="0" advAuto="indefinite" build="whole" animBg="1"/>
      <p1:bldP xmlns:p1="http://schemas.openxmlformats.org/presentationml/2006/main" spid="11" grpId="18" uiExpand="0" advAuto="indefinite" build="whole" animBg="1"/>
      <p1:bldP xmlns:p1="http://schemas.openxmlformats.org/presentationml/2006/main" spid="18" grpId="19" uiExpand="0" advAuto="indefinite" build="whole" animBg="1"/>
      <p1:bldP xmlns:p1="http://schemas.openxmlformats.org/presentationml/2006/main" spid="20" grpId="20" uiExpand="0" advAuto="indefinite" build="whol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Part.03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图形差异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模型图形特征对比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a0fa94cc44571e2c2eb60e7c24f9c3d5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dc77662ceee254949ac882f421ec9f3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5342" y="3219545"/>
            <a:ext cx="2702065" cy="508219"/>
          </a:xfrm>
          <a:prstGeom prst="rect"/>
        </p:spPr>
      </p:pic>
      <p:pic>
        <p:nvPicPr>
          <p:cNvPr id="4" name="Image 2" descr="https://test.web.static.jianzeppt.com/ppt-temp-img/322390cb376ecacc2ecf0302a898a05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5342" y="2508806"/>
            <a:ext cx="1973781" cy="508219"/>
          </a:xfrm>
          <a:prstGeom prst="rect"/>
        </p:spPr>
      </p:pic>
      <p:pic>
        <p:nvPicPr>
          <p:cNvPr id="5" name="Image 3" descr="https://test.web.static.jianzeppt.com/ppt-temp-img/0eb0e23bd4aa7a228fc994b45794b26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5342" y="1795000"/>
            <a:ext cx="1245497" cy="508219"/>
          </a:xfrm>
          <a:prstGeom prst="rect"/>
        </p:spPr>
      </p:pic>
      <p:pic>
        <p:nvPicPr>
          <p:cNvPr id="6" name="Image 4" descr="https://test.web.static.jianzeppt.com/ppt-temp-img/a83432498beb292595cd95ff3fb477a5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343" y="1081195"/>
            <a:ext cx="525391" cy="508218"/>
          </a:xfrm>
          <a:prstGeom prst="rect"/>
        </p:spPr>
      </p:pic>
      <p:pic>
        <p:nvPicPr>
          <p:cNvPr id="7" name="Image 5" descr="https://test.web.static.jianzeppt.com/ppt-temp-img/fe57fa9e55df882c1d71effd47f01a0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88936" y="948753"/>
            <a:ext cx="3652195" cy="2948146"/>
          </a:xfrm>
          <a:prstGeom prst="rect"/>
        </p:spPr>
      </p:pic>
      <p:sp>
        <p:nvSpPr>
          <p:cNvPr id="8" name="Text 0"/>
          <p:cNvSpPr/>
          <p:nvPr/>
        </p:nvSpPr>
        <p:spPr>
          <a:xfrm>
            <a:off x="2299743" y="2592249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3</a:t>
            </a:r>
            <a:endParaRPr lang="en-US" sz="2030"/>
          </a:p>
        </p:txBody>
      </p:sp>
      <p:sp>
        <p:nvSpPr>
          <p:cNvPr id="9" name="Text 1"/>
          <p:cNvSpPr/>
          <p:nvPr/>
        </p:nvSpPr>
        <p:spPr>
          <a:xfrm>
            <a:off x="3042022" y="3304991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4</a:t>
            </a:r>
            <a:endParaRPr lang="en-US" sz="2030"/>
          </a:p>
        </p:txBody>
      </p:sp>
      <p:sp>
        <p:nvSpPr>
          <p:cNvPr id="10" name="Text 2"/>
          <p:cNvSpPr/>
          <p:nvPr/>
        </p:nvSpPr>
        <p:spPr>
          <a:xfrm>
            <a:off x="856088" y="1168460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1</a:t>
            </a:r>
            <a:endParaRPr lang="en-US" sz="2030"/>
          </a:p>
        </p:txBody>
      </p:sp>
      <p:sp>
        <p:nvSpPr>
          <p:cNvPr id="11" name="Text 3"/>
          <p:cNvSpPr/>
          <p:nvPr/>
        </p:nvSpPr>
        <p:spPr>
          <a:xfrm>
            <a:off x="1576509" y="1895617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2</a:t>
            </a:r>
            <a:endParaRPr lang="en-US" sz="2030"/>
          </a:p>
        </p:txBody>
      </p:sp>
      <p:sp>
        <p:nvSpPr>
          <p:cNvPr id="12" name="Text 4"/>
          <p:cNvSpPr/>
          <p:nvPr/>
        </p:nvSpPr>
        <p:spPr>
          <a:xfrm>
            <a:off x="2224506" y="1969782"/>
            <a:ext cx="3135659" cy="29706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折线的不同斜率代表了上行β和下行β的差异。当市场好时，斜率大，对应上行β；市场坏时，斜率小，对应下行β。</a:t>
            </a:r>
            <a:endParaRPr lang="en-US" sz="900"/>
          </a:p>
        </p:txBody>
      </p:sp>
      <p:sp>
        <p:nvSpPr>
          <p:cNvPr id="13" name="Text 5"/>
          <p:cNvSpPr/>
          <p:nvPr/>
        </p:nvSpPr>
        <p:spPr>
          <a:xfrm>
            <a:off x="3691584" y="3392700"/>
            <a:ext cx="3135659" cy="29706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只能展示两段式的市场状态，对于市场的连续变化无法准确呈现。在市场波动复杂的情况下，图形的解释力有限。</a:t>
            </a:r>
            <a:endParaRPr lang="en-US" sz="900"/>
          </a:p>
        </p:txBody>
      </p:sp>
      <p:sp>
        <p:nvSpPr>
          <p:cNvPr id="14" name="Text 6"/>
          <p:cNvSpPr/>
          <p:nvPr/>
        </p:nvSpPr>
        <p:spPr>
          <a:xfrm>
            <a:off x="2968646" y="2661919"/>
            <a:ext cx="3135659" cy="29706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这种图形特征有助于直观判断基金的择时行为。投资者可以通过观察折线的变化，了解基金在不同市场状态下的表现。</a:t>
            </a:r>
            <a:endParaRPr lang="en-US" sz="900"/>
          </a:p>
        </p:txBody>
      </p:sp>
      <p:sp>
        <p:nvSpPr>
          <p:cNvPr id="15" name="Text 7"/>
          <p:cNvSpPr/>
          <p:nvPr/>
        </p:nvSpPr>
        <p:spPr>
          <a:xfrm>
            <a:off x="1514771" y="1012945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折线结构</a:t>
            </a:r>
            <a:endParaRPr lang="en-US" sz="1200"/>
          </a:p>
        </p:txBody>
      </p:sp>
      <p:sp>
        <p:nvSpPr>
          <p:cNvPr id="16" name="Text 8"/>
          <p:cNvSpPr/>
          <p:nvPr/>
        </p:nvSpPr>
        <p:spPr>
          <a:xfrm>
            <a:off x="1515672" y="1254452"/>
            <a:ext cx="3135659" cy="29706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HM模型的图形呈现折线结构，上⾏斜率大于下⾏斜率，有明显折点。这直观地反映了基金在市场好坏时的不同β值。</a:t>
            </a:r>
            <a:endParaRPr lang="en-US" sz="900"/>
          </a:p>
        </p:txBody>
      </p:sp>
      <p:sp>
        <p:nvSpPr>
          <p:cNvPr id="17" name="Text 9"/>
          <p:cNvSpPr/>
          <p:nvPr/>
        </p:nvSpPr>
        <p:spPr>
          <a:xfrm>
            <a:off x="2967745" y="2420412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特征作用</a:t>
            </a:r>
            <a:endParaRPr lang="en-US" sz="1200"/>
          </a:p>
        </p:txBody>
      </p:sp>
      <p:sp>
        <p:nvSpPr>
          <p:cNvPr id="18" name="Text 10"/>
          <p:cNvSpPr/>
          <p:nvPr/>
        </p:nvSpPr>
        <p:spPr>
          <a:xfrm>
            <a:off x="3690683" y="3151192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局限性</a:t>
            </a:r>
            <a:endParaRPr lang="en-US" sz="1200"/>
          </a:p>
        </p:txBody>
      </p:sp>
      <p:sp>
        <p:nvSpPr>
          <p:cNvPr id="19" name="Text 11"/>
          <p:cNvSpPr/>
          <p:nvPr/>
        </p:nvSpPr>
        <p:spPr>
          <a:xfrm>
            <a:off x="2223605" y="1728274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图形含义</a:t>
            </a:r>
            <a:endParaRPr lang="en-US" sz="1200"/>
          </a:p>
        </p:txBody>
      </p:sp>
      <p:sp>
        <p:nvSpPr>
          <p:cNvPr id="20" name="Text 12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HM图形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c64a15c3410b05c1b39b6cc4d7844905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03adfc472bb1897a0ef8102df8d9a92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8826" y="3141137"/>
            <a:ext cx="2790000" cy="765000"/>
          </a:xfrm>
          <a:prstGeom prst="rect"/>
        </p:spPr>
      </p:pic>
      <p:pic>
        <p:nvPicPr>
          <p:cNvPr id="4" name="Image 2" descr="https://test.web.static.jianzeppt.com/ppt-temp-img/960897d1e3af45d53b6ab965e36f43d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0117" y="3122428"/>
            <a:ext cx="2827417" cy="802417"/>
          </a:xfrm>
          <a:prstGeom prst="rect"/>
        </p:spPr>
      </p:pic>
      <p:pic>
        <p:nvPicPr>
          <p:cNvPr id="5" name="Image 3" descr="https://test.web.static.jianzeppt.com/ppt-temp-img/599af0882d73bd18432e3a3fdb0d9640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8826" y="2341275"/>
            <a:ext cx="2340001" cy="720000"/>
          </a:xfrm>
          <a:prstGeom prst="rect"/>
        </p:spPr>
      </p:pic>
      <p:pic>
        <p:nvPicPr>
          <p:cNvPr id="6" name="Image 4" descr="https://test.web.static.jianzeppt.com/ppt-temp-img/fa3715d1176dc385c3db8e45157aff5a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60117" y="2322566"/>
            <a:ext cx="2377418" cy="757418"/>
          </a:xfrm>
          <a:prstGeom prst="rect"/>
        </p:spPr>
      </p:pic>
      <p:pic>
        <p:nvPicPr>
          <p:cNvPr id="7" name="Image 5" descr="https://test.web.static.jianzeppt.com/ppt-temp-img/37afabb666cd0f214f90910f01767daa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8827" y="1586413"/>
            <a:ext cx="1890000" cy="675000"/>
          </a:xfrm>
          <a:prstGeom prst="rect"/>
        </p:spPr>
      </p:pic>
      <p:pic>
        <p:nvPicPr>
          <p:cNvPr id="8" name="Image 6" descr="https://test.web.static.jianzeppt.com/ppt-temp-img/8488a555c2f9f9c36dd29702e57f0058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60118" y="1567704"/>
            <a:ext cx="1927418" cy="712418"/>
          </a:xfrm>
          <a:prstGeom prst="rect"/>
        </p:spPr>
      </p:pic>
      <p:pic>
        <p:nvPicPr>
          <p:cNvPr id="9" name="Image 7" descr="https://test.web.static.jianzeppt.com/ppt-temp-img/8ec16c8a3465380090b5a3c43c8abec8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78827" y="876552"/>
            <a:ext cx="1440000" cy="630000"/>
          </a:xfrm>
          <a:prstGeom prst="rect"/>
        </p:spPr>
      </p:pic>
      <p:pic>
        <p:nvPicPr>
          <p:cNvPr id="10" name="Image 8" descr="https://test.web.static.jianzeppt.com/ppt-temp-img/bfa4e22d39ad43d44c8db699f915b5c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60118" y="857844"/>
            <a:ext cx="1477418" cy="667418"/>
          </a:xfrm>
          <a:prstGeom prst="rect"/>
        </p:spPr>
      </p:pic>
      <p:sp>
        <p:nvSpPr>
          <p:cNvPr id="11" name="Text 0"/>
          <p:cNvSpPr/>
          <p:nvPr/>
        </p:nvSpPr>
        <p:spPr>
          <a:xfrm>
            <a:off x="782552" y="1036289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ln w="12700">
                  <a:solidFill>
                    <a:srgbClr val="0F4446"/>
                  </a:solidFill>
                </a:ln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1</a:t>
            </a:r>
            <a:endParaRPr lang="en-US" sz="2030"/>
          </a:p>
        </p:txBody>
      </p:sp>
      <p:sp>
        <p:nvSpPr>
          <p:cNvPr id="12" name="Text 1"/>
          <p:cNvSpPr/>
          <p:nvPr/>
        </p:nvSpPr>
        <p:spPr>
          <a:xfrm>
            <a:off x="782552" y="3373201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ln w="12700">
                  <a:solidFill>
                    <a:srgbClr val="0F4446"/>
                  </a:solidFill>
                </a:ln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4</a:t>
            </a:r>
            <a:endParaRPr lang="en-US" sz="2030"/>
          </a:p>
        </p:txBody>
      </p:sp>
      <p:sp>
        <p:nvSpPr>
          <p:cNvPr id="13" name="Text 2"/>
          <p:cNvSpPr/>
          <p:nvPr/>
        </p:nvSpPr>
        <p:spPr>
          <a:xfrm>
            <a:off x="782552" y="2547783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ln w="12700">
                  <a:solidFill>
                    <a:srgbClr val="0F4446"/>
                  </a:solidFill>
                </a:ln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3</a:t>
            </a:r>
            <a:endParaRPr lang="en-US" sz="2030"/>
          </a:p>
        </p:txBody>
      </p:sp>
      <p:sp>
        <p:nvSpPr>
          <p:cNvPr id="14" name="Text 3"/>
          <p:cNvSpPr/>
          <p:nvPr/>
        </p:nvSpPr>
        <p:spPr>
          <a:xfrm>
            <a:off x="782552" y="1770422"/>
            <a:ext cx="314686" cy="306984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436"/>
              </a:lnSpc>
              <a:buNone/>
            </a:pPr>
            <a:r>
              <a:rPr lang="en-US" sz="2030" dirty="1">
                <a:ln w="12700">
                  <a:solidFill>
                    <a:srgbClr val="0F4446"/>
                  </a:solidFill>
                </a:ln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2</a:t>
            </a:r>
            <a:endParaRPr lang="en-US" sz="2030"/>
          </a:p>
        </p:txBody>
      </p:sp>
      <p:sp>
        <p:nvSpPr>
          <p:cNvPr id="15" name="Text 4"/>
          <p:cNvSpPr/>
          <p:nvPr/>
        </p:nvSpPr>
        <p:spPr>
          <a:xfrm>
            <a:off x="2799980" y="1666457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图形原理</a:t>
            </a:r>
            <a:endParaRPr lang="en-US" sz="1200"/>
          </a:p>
        </p:txBody>
      </p:sp>
      <p:sp>
        <p:nvSpPr>
          <p:cNvPr id="16" name="Text 5"/>
          <p:cNvSpPr/>
          <p:nvPr/>
        </p:nvSpPr>
        <p:spPr>
          <a:xfrm>
            <a:off x="3253041" y="2444996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应用优势</a:t>
            </a:r>
            <a:endParaRPr lang="en-US" sz="1200"/>
          </a:p>
        </p:txBody>
      </p:sp>
      <p:sp>
        <p:nvSpPr>
          <p:cNvPr id="17" name="Text 6"/>
          <p:cNvSpPr/>
          <p:nvPr/>
        </p:nvSpPr>
        <p:spPr>
          <a:xfrm>
            <a:off x="3253942" y="2686504"/>
            <a:ext cx="3135659" cy="29706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能更准确地反映基金在市场连续变化中的表现。投资者可以根据抛物线的形状，判断基金的择时能力和风险控制水平。</a:t>
            </a:r>
            <a:endParaRPr lang="en-US" sz="900"/>
          </a:p>
        </p:txBody>
      </p:sp>
      <p:sp>
        <p:nvSpPr>
          <p:cNvPr id="18" name="Text 7"/>
          <p:cNvSpPr/>
          <p:nvPr/>
        </p:nvSpPr>
        <p:spPr>
          <a:xfrm>
            <a:off x="2800881" y="1907964"/>
            <a:ext cx="3135659" cy="272355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抛物线的形状由二次项系数γ决定。γ &gt; 0时，抛物线向上凸，代表正向择时。这体现了基金在市场变化中的平滑调整能力。</a:t>
            </a:r>
            <a:endParaRPr lang="en-US" sz="830"/>
          </a:p>
        </p:txBody>
      </p:sp>
      <p:sp>
        <p:nvSpPr>
          <p:cNvPr id="19" name="Text 8"/>
          <p:cNvSpPr/>
          <p:nvPr/>
        </p:nvSpPr>
        <p:spPr>
          <a:xfrm>
            <a:off x="3739917" y="3491321"/>
            <a:ext cx="3135659" cy="272355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图形受极端点影响较大，可能导致对基金表现的误判。而且，对于非专业投资者来说，理解抛物线的含义有一定难度。</a:t>
            </a:r>
            <a:endParaRPr lang="en-US" sz="830"/>
          </a:p>
        </p:txBody>
      </p:sp>
      <p:sp>
        <p:nvSpPr>
          <p:cNvPr id="20" name="Text 9"/>
          <p:cNvSpPr/>
          <p:nvPr/>
        </p:nvSpPr>
        <p:spPr>
          <a:xfrm>
            <a:off x="3739016" y="3249814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潜在问题</a:t>
            </a:r>
            <a:endParaRPr lang="en-US" sz="1200"/>
          </a:p>
        </p:txBody>
      </p:sp>
      <p:sp>
        <p:nvSpPr>
          <p:cNvPr id="21" name="Text 10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TM图形</a:t>
            </a:r>
            <a:endParaRPr lang="en-US" sz="1600"/>
          </a:p>
        </p:txBody>
      </p:sp>
      <p:sp>
        <p:nvSpPr>
          <p:cNvPr id="22" name="Text 11"/>
          <p:cNvSpPr/>
          <p:nvPr/>
        </p:nvSpPr>
        <p:spPr>
          <a:xfrm>
            <a:off x="2323682" y="1151674"/>
            <a:ext cx="3135659" cy="272355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TM模型的图形是向上凸的抛物线，表明收益曲线具有凸性。当市场越好时，基金收益增长越快；市场越差时，收益下降越慢。</a:t>
            </a:r>
            <a:endParaRPr lang="en-US" sz="830"/>
          </a:p>
        </p:txBody>
      </p:sp>
      <p:sp>
        <p:nvSpPr>
          <p:cNvPr id="23" name="Text 12"/>
          <p:cNvSpPr/>
          <p:nvPr/>
        </p:nvSpPr>
        <p:spPr>
          <a:xfrm>
            <a:off x="2322781" y="910167"/>
            <a:ext cx="313745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抛物线凸性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96092dd3b98bf6ebf741a32de55fb47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fea7729c9ea30b44382d5e11c3f95c1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8044" y="1625110"/>
            <a:ext cx="604044" cy="603459"/>
          </a:xfrm>
          <a:prstGeom prst="rect"/>
        </p:spPr>
      </p:pic>
      <p:pic>
        <p:nvPicPr>
          <p:cNvPr id="4" name="Image 2" descr="https://test.web.static.jianzeppt.com/ppt-temp-img/c58fe47573c3b1005f2ab55e7e32d1b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6948" y="1828926"/>
            <a:ext cx="226284" cy="195793"/>
          </a:xfrm>
          <a:prstGeom prst="rect"/>
        </p:spPr>
      </p:pic>
      <p:pic>
        <p:nvPicPr>
          <p:cNvPr id="5" name="Image 3" descr="https://test.web.static.jianzeppt.com/ppt-temp-img/e10ada0a978daef5cb6e5c706e32103b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24931" y="1625110"/>
            <a:ext cx="604044" cy="603459"/>
          </a:xfrm>
          <a:prstGeom prst="rect"/>
        </p:spPr>
      </p:pic>
      <p:pic>
        <p:nvPicPr>
          <p:cNvPr id="6" name="Image 4" descr="https://test.web.static.jianzeppt.com/ppt-temp-img/30675a354274d2a6dcbdf8d6c64c2d06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13803" y="1828950"/>
            <a:ext cx="226284" cy="195793"/>
          </a:xfrm>
          <a:prstGeom prst="rect"/>
        </p:spPr>
      </p:pic>
      <p:pic>
        <p:nvPicPr>
          <p:cNvPr id="7" name="Image 5" descr="https://test.web.static.jianzeppt.com/ppt-temp-img/4074b779476392967710aa764fd65c8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91025" y="1625110"/>
            <a:ext cx="604044" cy="603459"/>
          </a:xfrm>
          <a:prstGeom prst="rect"/>
        </p:spPr>
      </p:pic>
      <p:pic>
        <p:nvPicPr>
          <p:cNvPr id="8" name="Image 6" descr="https://test.web.static.jianzeppt.com/ppt-temp-img/0ed92c97f9ea593ccd76dae03aabd0e9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80117" y="1828950"/>
            <a:ext cx="226284" cy="195793"/>
          </a:xfrm>
          <a:prstGeom prst="rect"/>
        </p:spPr>
      </p:pic>
      <p:pic>
        <p:nvPicPr>
          <p:cNvPr id="9" name="Image 7" descr="https://test.web.static.jianzeppt.com/ppt-temp-img/f9379480d6b8bebeffcd73a4bdb86892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157912" y="1625110"/>
            <a:ext cx="604044" cy="603459"/>
          </a:xfrm>
          <a:prstGeom prst="rect"/>
        </p:spPr>
      </p:pic>
      <p:pic>
        <p:nvPicPr>
          <p:cNvPr id="10" name="Image 8" descr="https://test.web.static.jianzeppt.com/ppt-temp-img/4b91561f5d75a2dc3a3ba94459b012ec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346700" y="1828953"/>
            <a:ext cx="226284" cy="195793"/>
          </a:xfrm>
          <a:prstGeom prst="rect"/>
        </p:spPr>
      </p:pic>
      <p:sp>
        <p:nvSpPr>
          <p:cNvPr id="11" name="Text 0"/>
          <p:cNvSpPr/>
          <p:nvPr/>
        </p:nvSpPr>
        <p:spPr>
          <a:xfrm>
            <a:off x="2269356" y="1410681"/>
            <a:ext cx="329635" cy="377641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920"/>
              </a:lnSpc>
              <a:buNone/>
            </a:pPr>
            <a:r>
              <a:rPr lang="en-US" sz="1280" dirty="1">
                <a:solidFill>
                  <a:srgbClr val="2F2F2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1280"/>
          </a:p>
        </p:txBody>
      </p:sp>
      <p:sp>
        <p:nvSpPr>
          <p:cNvPr id="12" name="Text 1"/>
          <p:cNvSpPr/>
          <p:nvPr/>
        </p:nvSpPr>
        <p:spPr>
          <a:xfrm>
            <a:off x="5802536" y="1410681"/>
            <a:ext cx="329635" cy="377641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920"/>
              </a:lnSpc>
              <a:buNone/>
            </a:pPr>
            <a:r>
              <a:rPr lang="en-US" sz="1280" dirty="1">
                <a:solidFill>
                  <a:srgbClr val="2F2F2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1280"/>
          </a:p>
        </p:txBody>
      </p:sp>
      <p:sp>
        <p:nvSpPr>
          <p:cNvPr id="13" name="Text 2"/>
          <p:cNvSpPr/>
          <p:nvPr/>
        </p:nvSpPr>
        <p:spPr>
          <a:xfrm>
            <a:off x="4035946" y="1410681"/>
            <a:ext cx="329635" cy="377641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920"/>
              </a:lnSpc>
              <a:buNone/>
            </a:pPr>
            <a:r>
              <a:rPr lang="en-US" sz="1280" dirty="1">
                <a:solidFill>
                  <a:srgbClr val="2F2F2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1280"/>
          </a:p>
        </p:txBody>
      </p:sp>
      <p:sp>
        <p:nvSpPr>
          <p:cNvPr id="14" name="Text 3"/>
          <p:cNvSpPr/>
          <p:nvPr/>
        </p:nvSpPr>
        <p:spPr>
          <a:xfrm>
            <a:off x="498487" y="1410681"/>
            <a:ext cx="329635" cy="377641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920"/>
              </a:lnSpc>
              <a:buNone/>
            </a:pPr>
            <a:r>
              <a:rPr lang="en-US" sz="1280" dirty="1">
                <a:solidFill>
                  <a:srgbClr val="2F2F2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1280"/>
          </a:p>
        </p:txBody>
      </p:sp>
      <p:sp>
        <p:nvSpPr>
          <p:cNvPr id="15" name="Text 4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CL图形</a:t>
            </a:r>
            <a:endParaRPr lang="en-US" sz="1600"/>
          </a:p>
        </p:txBody>
      </p:sp>
      <p:sp>
        <p:nvSpPr>
          <p:cNvPr id="16" name="Text 5"/>
          <p:cNvSpPr/>
          <p:nvPr/>
        </p:nvSpPr>
        <p:spPr>
          <a:xfrm>
            <a:off x="2244427" y="2683696"/>
            <a:ext cx="1373640" cy="74265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通过图形可以看出大多数基金是否具有择时能力。如果图形显示上下行β差异不明显，说明行业整体择时能力较弱。</a:t>
            </a:r>
            <a:endParaRPr lang="en-US" sz="900"/>
          </a:p>
        </p:txBody>
      </p:sp>
      <p:sp>
        <p:nvSpPr>
          <p:cNvPr id="17" name="Text 6"/>
          <p:cNvSpPr/>
          <p:nvPr/>
        </p:nvSpPr>
        <p:spPr>
          <a:xfrm>
            <a:off x="2244427" y="2394664"/>
            <a:ext cx="1373640" cy="198090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图形意义</a:t>
            </a:r>
            <a:endParaRPr lang="en-US" sz="1200"/>
          </a:p>
        </p:txBody>
      </p:sp>
      <p:sp>
        <p:nvSpPr>
          <p:cNvPr id="18" name="Text 7"/>
          <p:cNvSpPr/>
          <p:nvPr/>
        </p:nvSpPr>
        <p:spPr>
          <a:xfrm>
            <a:off x="5777607" y="2683696"/>
            <a:ext cx="1373640" cy="59412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不能反映个别基金的具体情况。对于一些具有特殊择时能力的基金，图形可能无法准确展示其表现。</a:t>
            </a:r>
            <a:endParaRPr lang="en-US" sz="900"/>
          </a:p>
        </p:txBody>
      </p:sp>
      <p:sp>
        <p:nvSpPr>
          <p:cNvPr id="19" name="Text 8"/>
          <p:cNvSpPr/>
          <p:nvPr/>
        </p:nvSpPr>
        <p:spPr>
          <a:xfrm>
            <a:off x="477838" y="2394664"/>
            <a:ext cx="1373640" cy="198090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与HM相似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4011017" y="2394664"/>
            <a:ext cx="1373640" cy="198090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研究价值</a:t>
            </a:r>
            <a:endParaRPr lang="en-US" sz="1200"/>
          </a:p>
        </p:txBody>
      </p:sp>
      <p:sp>
        <p:nvSpPr>
          <p:cNvPr id="21" name="Text 10"/>
          <p:cNvSpPr/>
          <p:nvPr/>
        </p:nvSpPr>
        <p:spPr>
          <a:xfrm>
            <a:off x="4011017" y="2683696"/>
            <a:ext cx="1373640" cy="74265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为行业研究提供了直观的证据。有助于投资者和研究者了解基金市场的整体特征，制定合理的投资策略。</a:t>
            </a:r>
            <a:endParaRPr lang="en-US" sz="900"/>
          </a:p>
        </p:txBody>
      </p:sp>
      <p:sp>
        <p:nvSpPr>
          <p:cNvPr id="22" name="Text 11"/>
          <p:cNvSpPr/>
          <p:nvPr/>
        </p:nvSpPr>
        <p:spPr>
          <a:xfrm>
            <a:off x="5777607" y="2394664"/>
            <a:ext cx="1373640" cy="198090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不足之处</a:t>
            </a:r>
            <a:endParaRPr lang="en-US" sz="1200"/>
          </a:p>
        </p:txBody>
      </p:sp>
      <p:sp>
        <p:nvSpPr>
          <p:cNvPr id="23" name="Text 12"/>
          <p:cNvSpPr/>
          <p:nvPr/>
        </p:nvSpPr>
        <p:spPr>
          <a:xfrm>
            <a:off x="477838" y="2683696"/>
            <a:ext cx="1373640" cy="74265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CL模型的图形与HM相似，也是两段式β的表现。但它是基于大样本的统计结果，反映的是行业整体情况。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5" grpId="1" uiExpand="0" advAuto="indefinite" build="whole" animBg="1"/>
      <p1:bldP xmlns:p1="http://schemas.openxmlformats.org/presentationml/2006/main" spid="7" grpId="2" uiExpand="0" advAuto="indefinite" build="whole" animBg="1"/>
      <p1:bldP xmlns:p1="http://schemas.openxmlformats.org/presentationml/2006/main" spid="9" grpId="3" uiExpand="0" advAuto="indefinite" build="whole" animBg="1"/>
      <p1:bldP xmlns:p1="http://schemas.openxmlformats.org/presentationml/2006/main" spid="14" grpId="4" uiExpand="0" advAuto="indefinite" build="whole" animBg="1"/>
      <p1:bldP xmlns:p1="http://schemas.openxmlformats.org/presentationml/2006/main" spid="4" grpId="5" uiExpand="0" advAuto="indefinite" build="whole" animBg="1"/>
      <p1:bldP xmlns:p1="http://schemas.openxmlformats.org/presentationml/2006/main" spid="19" grpId="6" uiExpand="0" advAuto="indefinite" build="whole" animBg="1"/>
      <p1:bldP xmlns:p1="http://schemas.openxmlformats.org/presentationml/2006/main" spid="23" grpId="7" uiExpand="0" advAuto="indefinite" build="whole" animBg="1"/>
      <p1:bldP xmlns:p1="http://schemas.openxmlformats.org/presentationml/2006/main" spid="11" grpId="8" uiExpand="0" advAuto="indefinite" build="whole" animBg="1"/>
      <p1:bldP xmlns:p1="http://schemas.openxmlformats.org/presentationml/2006/main" spid="6" grpId="9" uiExpand="0" advAuto="indefinite" build="whole" animBg="1"/>
      <p1:bldP xmlns:p1="http://schemas.openxmlformats.org/presentationml/2006/main" spid="17" grpId="10" uiExpand="0" advAuto="indefinite" build="whole" animBg="1"/>
      <p1:bldP xmlns:p1="http://schemas.openxmlformats.org/presentationml/2006/main" spid="16" grpId="11" uiExpand="0" advAuto="indefinite" build="whole" animBg="1"/>
      <p1:bldP xmlns:p1="http://schemas.openxmlformats.org/presentationml/2006/main" spid="13" grpId="12" uiExpand="0" advAuto="indefinite" build="whole" animBg="1"/>
      <p1:bldP xmlns:p1="http://schemas.openxmlformats.org/presentationml/2006/main" spid="8" grpId="13" uiExpand="0" advAuto="indefinite" build="whole" animBg="1"/>
      <p1:bldP xmlns:p1="http://schemas.openxmlformats.org/presentationml/2006/main" spid="20" grpId="14" uiExpand="0" advAuto="indefinite" build="whole" animBg="1"/>
      <p1:bldP xmlns:p1="http://schemas.openxmlformats.org/presentationml/2006/main" spid="21" grpId="15" uiExpand="0" advAuto="indefinite" build="whole" animBg="1"/>
      <p1:bldP xmlns:p1="http://schemas.openxmlformats.org/presentationml/2006/main" spid="12" grpId="16" uiExpand="0" advAuto="indefinite" build="whole" animBg="1"/>
      <p1:bldP xmlns:p1="http://schemas.openxmlformats.org/presentationml/2006/main" spid="10" grpId="17" uiExpand="0" advAuto="indefinite" build="whole" animBg="1"/>
      <p1:bldP xmlns:p1="http://schemas.openxmlformats.org/presentationml/2006/main" spid="22" grpId="18" uiExpand="0" advAuto="indefinite" build="whole" animBg="1"/>
      <p1:bldP xmlns:p1="http://schemas.openxmlformats.org/presentationml/2006/main" spid="18" grpId="19" uiExpand="0" advAuto="indefinite" build="whol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Part.04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择时逻辑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模型择时逻辑差别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085daaa48c1726bcdca6d1a1298b3805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817d8687f29be009e03a686582aba5d7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47541" y="1198563"/>
            <a:ext cx="1083469" cy="221617"/>
          </a:xfrm>
          <a:prstGeom prst="rect"/>
        </p:spPr>
      </p:pic>
      <p:pic>
        <p:nvPicPr>
          <p:cNvPr id="4" name="Image 2" descr="https://test.web.static.jianzeppt.com/ppt-temp-img/d04e1b5a8de1bf741444b57e2d54809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71608" y="1818158"/>
            <a:ext cx="1083469" cy="221617"/>
          </a:xfrm>
          <a:prstGeom prst="rect"/>
        </p:spPr>
      </p:pic>
      <p:pic>
        <p:nvPicPr>
          <p:cNvPr id="5" name="Image 3" descr="https://test.web.static.jianzeppt.com/ppt-temp-img/2ddde0c8fe522f148abad3a444c5c52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47541" y="2437754"/>
            <a:ext cx="1083469" cy="221617"/>
          </a:xfrm>
          <a:prstGeom prst="rect"/>
        </p:spPr>
      </p:pic>
      <p:pic>
        <p:nvPicPr>
          <p:cNvPr id="6" name="Image 4" descr="https://test.web.static.jianzeppt.com/ppt-temp-img/71fc660dc726b62e722f583ed2ce2847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71608" y="3057350"/>
            <a:ext cx="1083469" cy="221617"/>
          </a:xfrm>
          <a:prstGeom prst="rect"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07661" y="489786"/>
            <a:ext cx="4677" cy="3544802"/>
          </a:xfrm>
          <a:prstGeom prst="rect"/>
        </p:spPr>
      </p:pic>
      <p:pic>
        <p:nvPicPr>
          <p:cNvPr id="8" name="Image 6" descr="https://test.web.static.jianzeppt.com/ppt-temp-img/6537660647fa725ceb9d45b1ffd607e9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87036" y="1287702"/>
            <a:ext cx="246777" cy="47625"/>
          </a:xfrm>
          <a:prstGeom prst="rect"/>
        </p:spPr>
      </p:pic>
      <p:pic>
        <p:nvPicPr>
          <p:cNvPr id="9" name="Image 7" descr="https://test.web.static.jianzeppt.com/ppt-temp-img/e686b32032316aa51044d5b32e34c24a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786262" y="1905153"/>
            <a:ext cx="246698" cy="47625"/>
          </a:xfrm>
          <a:prstGeom prst="rect"/>
        </p:spPr>
      </p:pic>
      <p:pic>
        <p:nvPicPr>
          <p:cNvPr id="10" name="Image 8" descr="https://test.web.static.jianzeppt.com/ppt-temp-img/61881a18c1147fecc1ae03f418495058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587036" y="2526683"/>
            <a:ext cx="246777" cy="47625"/>
          </a:xfrm>
          <a:prstGeom prst="rect"/>
        </p:spPr>
      </p:pic>
      <p:pic>
        <p:nvPicPr>
          <p:cNvPr id="11" name="Image 9" descr="https://test.web.static.jianzeppt.com/ppt-temp-img/c4e970177bca8b461bbcbdac01005c41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786475" y="3143752"/>
            <a:ext cx="246618" cy="47625"/>
          </a:xfrm>
          <a:prstGeom prst="rect"/>
        </p:spPr>
      </p:pic>
      <p:sp>
        <p:nvSpPr>
          <p:cNvPr id="12" name="Text 0"/>
          <p:cNvSpPr/>
          <p:nvPr/>
        </p:nvSpPr>
        <p:spPr>
          <a:xfrm>
            <a:off x="3965902" y="2467004"/>
            <a:ext cx="2695466" cy="48287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274"/>
              </a:lnSpc>
              <a:buNone/>
            </a:pPr>
            <a:r>
              <a:rPr lang="en-US" sz="98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只能进行两段式的择时，无法适应市场的连续变化。对于市场状态复杂的情况，可能无法及时调整策略。</a:t>
            </a:r>
            <a:endParaRPr lang="en-US" sz="980"/>
          </a:p>
        </p:txBody>
      </p:sp>
      <p:sp>
        <p:nvSpPr>
          <p:cNvPr id="13" name="Text 1"/>
          <p:cNvSpPr/>
          <p:nvPr/>
        </p:nvSpPr>
        <p:spPr>
          <a:xfrm>
            <a:off x="947161" y="1847408"/>
            <a:ext cx="2645089" cy="44559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HM模型的择时逻辑是离散式的，即基金在市场好与坏时切换β值。例如，当市场好时，增加投资；市场坏时，减少投资。</a:t>
            </a:r>
            <a:endParaRPr lang="en-US" sz="900"/>
          </a:p>
        </p:txBody>
      </p:sp>
      <p:sp>
        <p:nvSpPr>
          <p:cNvPr id="14" name="Text 2"/>
          <p:cNvSpPr/>
          <p:nvPr/>
        </p:nvSpPr>
        <p:spPr>
          <a:xfrm>
            <a:off x="4028753" y="1829921"/>
            <a:ext cx="97827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适用场景</a:t>
            </a:r>
            <a:endParaRPr lang="en-US" sz="1200"/>
          </a:p>
        </p:txBody>
      </p:sp>
      <p:sp>
        <p:nvSpPr>
          <p:cNvPr id="15" name="Text 3"/>
          <p:cNvSpPr/>
          <p:nvPr/>
        </p:nvSpPr>
        <p:spPr>
          <a:xfrm>
            <a:off x="4028753" y="3069113"/>
            <a:ext cx="97827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局限性</a:t>
            </a:r>
            <a:endParaRPr lang="en-US" sz="1200"/>
          </a:p>
        </p:txBody>
      </p:sp>
      <p:sp>
        <p:nvSpPr>
          <p:cNvPr id="16" name="Text 4"/>
          <p:cNvSpPr/>
          <p:nvPr/>
        </p:nvSpPr>
        <p:spPr>
          <a:xfrm>
            <a:off x="2604684" y="1210326"/>
            <a:ext cx="97827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离散式择时</a:t>
            </a:r>
            <a:endParaRPr lang="en-US" sz="1200"/>
          </a:p>
        </p:txBody>
      </p:sp>
      <p:sp>
        <p:nvSpPr>
          <p:cNvPr id="17" name="Text 5"/>
          <p:cNvSpPr/>
          <p:nvPr/>
        </p:nvSpPr>
        <p:spPr>
          <a:xfrm>
            <a:off x="948283" y="3086600"/>
            <a:ext cx="2645089" cy="51993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依据β₂的值判断择时方向。β₂ &gt; 0表示正向择时，说明基金能在市场好时获得更好的收益。</a:t>
            </a:r>
            <a:endParaRPr lang="en-US" sz="1050"/>
          </a:p>
        </p:txBody>
      </p:sp>
      <p:sp>
        <p:nvSpPr>
          <p:cNvPr id="18" name="Text 6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HM择时</a:t>
            </a:r>
            <a:endParaRPr lang="en-US" sz="1600"/>
          </a:p>
        </p:txBody>
      </p:sp>
      <p:sp>
        <p:nvSpPr>
          <p:cNvPr id="19" name="Text 7"/>
          <p:cNvSpPr/>
          <p:nvPr/>
        </p:nvSpPr>
        <p:spPr>
          <a:xfrm>
            <a:off x="2604684" y="2449517"/>
            <a:ext cx="978277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判断依据</a:t>
            </a:r>
            <a:endParaRPr lang="en-US" sz="1200"/>
          </a:p>
        </p:txBody>
      </p:sp>
      <p:sp>
        <p:nvSpPr>
          <p:cNvPr id="20" name="Text 8"/>
          <p:cNvSpPr/>
          <p:nvPr/>
        </p:nvSpPr>
        <p:spPr>
          <a:xfrm>
            <a:off x="3974298" y="1227813"/>
            <a:ext cx="2896974" cy="29706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适用于市场有明显涨跌趋势的情况。在市场波动较大时，基金可以通过切换β值来降低风险，提高收益。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50"/>
                            </p:stCondLst>
                            <p:childTnLst>
                              <p:par>
                                <p:cTn id="47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7" grpId="1" uiExpand="0" advAuto="indefinite" build="whole" animBg="1"/>
      <p1:bldP xmlns:p1="http://schemas.openxmlformats.org/presentationml/2006/main" spid="8" grpId="2" uiExpand="0" advAuto="indefinite" build="whole" animBg="1"/>
      <p1:bldP xmlns:p1="http://schemas.openxmlformats.org/presentationml/2006/main" spid="5" grpId="3" uiExpand="0" advAuto="indefinite" build="whole" animBg="1"/>
      <p1:bldP xmlns:p1="http://schemas.openxmlformats.org/presentationml/2006/main" spid="9" grpId="4" uiExpand="0" advAuto="indefinite" build="whole" animBg="1"/>
      <p1:bldP xmlns:p1="http://schemas.openxmlformats.org/presentationml/2006/main" spid="4" grpId="5" uiExpand="0" advAuto="indefinite" build="whole" animBg="1"/>
      <p1:bldP xmlns:p1="http://schemas.openxmlformats.org/presentationml/2006/main" spid="10" grpId="6" uiExpand="0" advAuto="indefinite" build="whole" animBg="1"/>
      <p1:bldP xmlns:p1="http://schemas.openxmlformats.org/presentationml/2006/main" spid="11" grpId="7" uiExpand="0" advAuto="indefinite" build="whole" animBg="1"/>
      <p1:bldP xmlns:p1="http://schemas.openxmlformats.org/presentationml/2006/main" spid="6" grpId="8" uiExpand="0" advAuto="indefinite" build="whole" animBg="1"/>
      <p1:bldP xmlns:p1="http://schemas.openxmlformats.org/presentationml/2006/main" spid="16" grpId="9" uiExpand="0" advAuto="indefinite" build="whole" animBg="1"/>
      <p1:bldP xmlns:p1="http://schemas.openxmlformats.org/presentationml/2006/main" spid="13" grpId="10" uiExpand="0" advAuto="indefinite" build="whole" animBg="1"/>
      <p1:bldP xmlns:p1="http://schemas.openxmlformats.org/presentationml/2006/main" spid="19" grpId="11" uiExpand="0" advAuto="indefinite" build="whole" animBg="1"/>
      <p1:bldP xmlns:p1="http://schemas.openxmlformats.org/presentationml/2006/main" spid="17" grpId="12" uiExpand="0" advAuto="indefinite" build="whole" animBg="1"/>
      <p1:bldP xmlns:p1="http://schemas.openxmlformats.org/presentationml/2006/main" spid="14" grpId="13" uiExpand="0" advAuto="indefinite" build="whole" animBg="1"/>
      <p1:bldP xmlns:p1="http://schemas.openxmlformats.org/presentationml/2006/main" spid="20" grpId="14" uiExpand="0" advAuto="indefinite" build="whole" animBg="1"/>
      <p1:bldP xmlns:p1="http://schemas.openxmlformats.org/presentationml/2006/main" spid="15" grpId="15" uiExpand="0" advAuto="indefinite" build="whole" animBg="1"/>
      <p1:bldP xmlns:p1="http://schemas.openxmlformats.org/presentationml/2006/main" spid="12" grpId="16" uiExpand="0" advAuto="indefinite" build="whol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a5153727f12450f24a7afa1bf2e1088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7c258046ff2ebf938231b8de2d9c8b8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74988" y="1661671"/>
            <a:ext cx="670798" cy="645957"/>
          </a:xfrm>
          <a:prstGeom prst="rect"/>
        </p:spPr>
      </p:pic>
      <p:pic>
        <p:nvPicPr>
          <p:cNvPr id="4" name="Image 2" descr="https://test.web.static.jianzeppt.com/ppt-temp-img/2a061495e229c008b46787752d60601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98771" y="1157956"/>
            <a:ext cx="982186" cy="992934"/>
          </a:xfrm>
          <a:prstGeom prst="rect"/>
        </p:spPr>
      </p:pic>
      <p:pic>
        <p:nvPicPr>
          <p:cNvPr id="5" name="Image 3" descr="https://test.web.static.jianzeppt.com/ppt-temp-img/53440977852316979525181fb7c2e34c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02389" y="1886056"/>
            <a:ext cx="693341" cy="693355"/>
          </a:xfrm>
          <a:prstGeom prst="rect"/>
        </p:spPr>
      </p:pic>
      <p:pic>
        <p:nvPicPr>
          <p:cNvPr id="6" name="Image 4" descr="https://test.web.static.jianzeppt.com/ppt-temp-img/aed69bd593c4e43568dcb895318f8a7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95911" y="2076370"/>
            <a:ext cx="306270" cy="306339"/>
          </a:xfrm>
          <a:prstGeom prst="rect"/>
        </p:spPr>
      </p:pic>
      <p:pic>
        <p:nvPicPr>
          <p:cNvPr id="7" name="Image 5" descr="https://test.web.static.jianzeppt.com/ppt-temp-img/e0524a2877b70d745a3e1934e2272f21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94279" y="2105335"/>
            <a:ext cx="597614" cy="597614"/>
          </a:xfrm>
          <a:prstGeom prst="rect"/>
        </p:spPr>
      </p:pic>
      <p:pic>
        <p:nvPicPr>
          <p:cNvPr id="8" name="Image 6" descr="https://test.web.static.jianzeppt.com/ppt-temp-img/c71c70c134712271c285b69237b306a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80986" y="1781821"/>
            <a:ext cx="600948" cy="588509"/>
          </a:xfrm>
          <a:prstGeom prst="rect"/>
        </p:spPr>
      </p:pic>
      <p:pic>
        <p:nvPicPr>
          <p:cNvPr id="9" name="Image 7" descr="https://test.web.static.jianzeppt.com/ppt-temp-img/f7efdaf26fa0380d70253d32f5fca3aa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71399" y="1242888"/>
            <a:ext cx="840105" cy="843145"/>
          </a:xfrm>
          <a:prstGeom prst="rect"/>
        </p:spPr>
      </p:pic>
      <p:pic>
        <p:nvPicPr>
          <p:cNvPr id="10" name="Image 8" descr="https://test.web.static.jianzeppt.com/ppt-temp-img/b2542490b8c9fdf12600d04ccb74701a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821324" y="1497646"/>
            <a:ext cx="318407" cy="318407"/>
          </a:xfrm>
          <a:prstGeom prst="rect"/>
        </p:spPr>
      </p:pic>
      <p:pic>
        <p:nvPicPr>
          <p:cNvPr id="11" name="Image 9" descr="https://test.web.static.jianzeppt.com/ppt-temp-img/dd75294dfd3dca18396aea1340f964f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451667" y="2174054"/>
            <a:ext cx="483314" cy="480254"/>
          </a:xfrm>
          <a:prstGeom prst="rect"/>
        </p:spPr>
      </p:pic>
      <p:pic>
        <p:nvPicPr>
          <p:cNvPr id="12" name="Image 10" descr="https://test.web.static.jianzeppt.com/ppt-temp-img/de25ccdbe08e3e560b7eedf0b4ecc31f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139724" y="2337741"/>
            <a:ext cx="469424" cy="444736"/>
          </a:xfrm>
          <a:prstGeom prst="rect"/>
        </p:spPr>
      </p:pic>
      <p:pic>
        <p:nvPicPr>
          <p:cNvPr id="13" name="Image 11" descr="https://test.web.static.jianzeppt.com/ppt-temp-img/ec23894011a5a11ebac1c2f1cbbd7a29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603069" y="2437342"/>
            <a:ext cx="696436" cy="696444"/>
          </a:xfrm>
          <a:prstGeom prst="rect"/>
        </p:spPr>
      </p:pic>
      <p:pic>
        <p:nvPicPr>
          <p:cNvPr id="14" name="Image 12" descr="https://test.web.static.jianzeppt.com/ppt-temp-img/54e3bad53e08b639171d6608bfb575ce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3800872" y="2638513"/>
            <a:ext cx="287894" cy="287959"/>
          </a:xfrm>
          <a:prstGeom prst="rect"/>
        </p:spPr>
      </p:pic>
      <p:pic>
        <p:nvPicPr>
          <p:cNvPr id="15" name="Image 13" descr="https://test.web.static.jianzeppt.com/ppt-temp-img/302e50f08b6f5b3a124c09eebc68d165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4583622" y="2307016"/>
            <a:ext cx="222474" cy="218418"/>
          </a:xfrm>
          <a:prstGeom prst="rect"/>
        </p:spPr>
      </p:pic>
      <p:sp>
        <p:nvSpPr>
          <p:cNvPr id="16" name="Text 0"/>
          <p:cNvSpPr/>
          <p:nvPr/>
        </p:nvSpPr>
        <p:spPr>
          <a:xfrm>
            <a:off x="3693113" y="3200221"/>
            <a:ext cx="345912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优势体现</a:t>
            </a:r>
            <a:endParaRPr lang="en-US" sz="1200"/>
          </a:p>
        </p:txBody>
      </p:sp>
      <p:sp>
        <p:nvSpPr>
          <p:cNvPr id="17" name="Text 1"/>
          <p:cNvSpPr/>
          <p:nvPr/>
        </p:nvSpPr>
        <p:spPr>
          <a:xfrm>
            <a:off x="417096" y="1419139"/>
            <a:ext cx="2831562" cy="272355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079"/>
              </a:lnSpc>
              <a:buNone/>
            </a:pPr>
            <a:r>
              <a:rPr lang="en-US" sz="83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TM模型采用平滑式择时，通过调整β值来适应市场变化。当市场向好时，逐渐增加投资；市场向坏时，逐渐减少投资。</a:t>
            </a:r>
            <a:endParaRPr lang="en-US" sz="830"/>
          </a:p>
        </p:txBody>
      </p:sp>
      <p:sp>
        <p:nvSpPr>
          <p:cNvPr id="18" name="Text 2"/>
          <p:cNvSpPr/>
          <p:nvPr/>
        </p:nvSpPr>
        <p:spPr>
          <a:xfrm>
            <a:off x="417096" y="2079112"/>
            <a:ext cx="194431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判断标准</a:t>
            </a:r>
            <a:endParaRPr lang="en-US" sz="1200"/>
          </a:p>
        </p:txBody>
      </p:sp>
      <p:sp>
        <p:nvSpPr>
          <p:cNvPr id="19" name="Text 3"/>
          <p:cNvSpPr/>
          <p:nvPr/>
        </p:nvSpPr>
        <p:spPr>
          <a:xfrm>
            <a:off x="417096" y="1169872"/>
            <a:ext cx="2831562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平滑式择时</a:t>
            </a:r>
            <a:endParaRPr lang="en-US" sz="1200"/>
          </a:p>
        </p:txBody>
      </p:sp>
      <p:sp>
        <p:nvSpPr>
          <p:cNvPr id="20" name="Text 4"/>
          <p:cNvSpPr/>
          <p:nvPr/>
        </p:nvSpPr>
        <p:spPr>
          <a:xfrm>
            <a:off x="417096" y="2328380"/>
            <a:ext cx="1944318" cy="44559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以γ值判断择时能力，γ &gt; 0表示正向择时。这意味着基金的收益曲线具有凸性，能更好地适应市场变化。</a:t>
            </a:r>
            <a:endParaRPr lang="en-US" sz="900"/>
          </a:p>
        </p:txBody>
      </p:sp>
      <p:sp>
        <p:nvSpPr>
          <p:cNvPr id="21" name="Text 5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TM择时</a:t>
            </a:r>
            <a:endParaRPr lang="en-US" sz="1600"/>
          </a:p>
        </p:txBody>
      </p:sp>
      <p:sp>
        <p:nvSpPr>
          <p:cNvPr id="22" name="Text 6"/>
          <p:cNvSpPr/>
          <p:nvPr/>
        </p:nvSpPr>
        <p:spPr>
          <a:xfrm>
            <a:off x="5152001" y="2145556"/>
            <a:ext cx="194332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2F2F2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潜在问题</a:t>
            </a:r>
            <a:endParaRPr lang="en-US" sz="1200"/>
          </a:p>
        </p:txBody>
      </p:sp>
      <p:sp>
        <p:nvSpPr>
          <p:cNvPr id="23" name="Text 7"/>
          <p:cNvSpPr/>
          <p:nvPr/>
        </p:nvSpPr>
        <p:spPr>
          <a:xfrm>
            <a:off x="5152001" y="2424545"/>
            <a:ext cx="1943326" cy="48287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274"/>
              </a:lnSpc>
              <a:buNone/>
            </a:pPr>
            <a:r>
              <a:rPr lang="en-US" sz="98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二次项容易受极端点影响，可能导致对择时能力的误判。而且，调整β值需要一定的时间和成本。</a:t>
            </a:r>
            <a:endParaRPr lang="en-US" sz="980"/>
          </a:p>
        </p:txBody>
      </p:sp>
      <p:sp>
        <p:nvSpPr>
          <p:cNvPr id="24" name="Text 8"/>
          <p:cNvSpPr/>
          <p:nvPr/>
        </p:nvSpPr>
        <p:spPr>
          <a:xfrm>
            <a:off x="3693113" y="3449488"/>
            <a:ext cx="3459124" cy="34662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能更灵活地应对市场的连续变化，减少因市场波动带来的损失。在市场趋势不明显时，也能较好地调整投资策略。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"/>
                            </p:stCondLst>
                            <p:childTnLst>
                              <p:par>
                                <p:cTn id="59" presetID="10" presetClass="entr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4" grpId="0" uiExpand="0" advAuto="indefinite" build="whole" animBg="1"/>
      <p1:bldP xmlns:p1="http://schemas.openxmlformats.org/presentationml/2006/main" spid="9" grpId="1" uiExpand="0" advAuto="indefinite" build="whole" animBg="1"/>
      <p1:bldP xmlns:p1="http://schemas.openxmlformats.org/presentationml/2006/main" spid="5" grpId="2" uiExpand="0" advAuto="indefinite" build="whole" animBg="1"/>
      <p1:bldP xmlns:p1="http://schemas.openxmlformats.org/presentationml/2006/main" spid="3" grpId="3" uiExpand="0" advAuto="indefinite" build="whole" animBg="1"/>
      <p1:bldP xmlns:p1="http://schemas.openxmlformats.org/presentationml/2006/main" spid="10" grpId="4" uiExpand="0" advAuto="indefinite" build="whole" animBg="1"/>
      <p1:bldP xmlns:p1="http://schemas.openxmlformats.org/presentationml/2006/main" spid="6" grpId="5" uiExpand="0" advAuto="indefinite" build="whole" animBg="1"/>
      <p1:bldP xmlns:p1="http://schemas.openxmlformats.org/presentationml/2006/main" spid="8" grpId="6" uiExpand="0" advAuto="indefinite" build="whole" animBg="1"/>
      <p1:bldP xmlns:p1="http://schemas.openxmlformats.org/presentationml/2006/main" spid="13" grpId="7" uiExpand="0" advAuto="indefinite" build="whole" animBg="1"/>
      <p1:bldP xmlns:p1="http://schemas.openxmlformats.org/presentationml/2006/main" spid="7" grpId="8" uiExpand="0" advAuto="indefinite" build="whole" animBg="1"/>
      <p1:bldP xmlns:p1="http://schemas.openxmlformats.org/presentationml/2006/main" spid="12" grpId="9" uiExpand="0" advAuto="indefinite" build="whole" animBg="1"/>
      <p1:bldP xmlns:p1="http://schemas.openxmlformats.org/presentationml/2006/main" spid="11" grpId="10" uiExpand="0" advAuto="indefinite" build="whole" animBg="1"/>
      <p1:bldP xmlns:p1="http://schemas.openxmlformats.org/presentationml/2006/main" spid="14" grpId="11" uiExpand="0" advAuto="indefinite" build="whole" animBg="1"/>
      <p1:bldP xmlns:p1="http://schemas.openxmlformats.org/presentationml/2006/main" spid="15" grpId="12" uiExpand="0" advAuto="indefinite" build="whole" animBg="1"/>
      <p1:bldP xmlns:p1="http://schemas.openxmlformats.org/presentationml/2006/main" spid="19" grpId="13" uiExpand="0" advAuto="indefinite" build="whole" animBg="1"/>
      <p1:bldP xmlns:p1="http://schemas.openxmlformats.org/presentationml/2006/main" spid="17" grpId="14" uiExpand="0" advAuto="indefinite" build="whole" animBg="1"/>
      <p1:bldP xmlns:p1="http://schemas.openxmlformats.org/presentationml/2006/main" spid="18" grpId="15" uiExpand="0" advAuto="indefinite" build="whole" animBg="1"/>
      <p1:bldP xmlns:p1="http://schemas.openxmlformats.org/presentationml/2006/main" spid="20" grpId="16" uiExpand="0" advAuto="indefinite" build="whole" animBg="1"/>
      <p1:bldP xmlns:p1="http://schemas.openxmlformats.org/presentationml/2006/main" spid="16" grpId="17" uiExpand="0" advAuto="indefinite" build="whole" animBg="1"/>
      <p1:bldP xmlns:p1="http://schemas.openxmlformats.org/presentationml/2006/main" spid="24" grpId="18" uiExpand="0" advAuto="indefinite" build="whole" animBg="1"/>
      <p1:bldP xmlns:p1="http://schemas.openxmlformats.org/presentationml/2006/main" spid="22" grpId="19" uiExpand="0" advAuto="indefinite" build="whole" animBg="1"/>
      <p1:bldP xmlns:p1="http://schemas.openxmlformats.org/presentationml/2006/main" spid="23" grpId="20" uiExpand="0" advAuto="indefinite" build="whol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Part.05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适用场景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模型适用情况对比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7ada24543ec24e98aa4d1abf4cdfd99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1743694af887940428d88b15005d276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30626" y="2531242"/>
            <a:ext cx="311850" cy="311850"/>
          </a:xfrm>
          <a:prstGeom prst="rect"/>
        </p:spPr>
      </p:pic>
      <p:pic>
        <p:nvPicPr>
          <p:cNvPr id="4" name="Image 2" descr="https://test.web.static.jianzeppt.com/ppt-temp-img/6b5f58d4bdc050247d4445337e3be07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0778" y="2531242"/>
            <a:ext cx="311850" cy="311850"/>
          </a:xfrm>
          <a:prstGeom prst="rect"/>
        </p:spPr>
      </p:pic>
      <p:pic>
        <p:nvPicPr>
          <p:cNvPr id="5" name="Image 3" descr="https://test.web.static.jianzeppt.com/ppt-temp-img/c40927e97c00935f9f93758f2614d0da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30546" y="1137128"/>
            <a:ext cx="311850" cy="311850"/>
          </a:xfrm>
          <a:prstGeom prst="rect"/>
        </p:spPr>
      </p:pic>
      <p:pic>
        <p:nvPicPr>
          <p:cNvPr id="6" name="Image 4" descr="https://test.web.static.jianzeppt.com/ppt-temp-img/ca3c2678e3e63f290f8d4e3f6dff39e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00778" y="1137128"/>
            <a:ext cx="311850" cy="311850"/>
          </a:xfrm>
          <a:prstGeom prst="rect"/>
        </p:spPr>
      </p:pic>
      <p:sp>
        <p:nvSpPr>
          <p:cNvPr id="7" name="Text 0"/>
          <p:cNvSpPr/>
          <p:nvPr/>
        </p:nvSpPr>
        <p:spPr>
          <a:xfrm>
            <a:off x="1150479" y="1374990"/>
            <a:ext cx="2526736" cy="69324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HM模型适用于判断策略是否在涨跌行情间切换仓位。例如，在市场有明显的牛市和熊市切换时，可通过该模型检验基金的择时能力。</a:t>
            </a:r>
            <a:endParaRPr lang="en-US" sz="1050"/>
          </a:p>
        </p:txBody>
      </p:sp>
      <p:sp>
        <p:nvSpPr>
          <p:cNvPr id="8" name="Text 1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场景选择</a:t>
            </a:r>
            <a:endParaRPr lang="en-US" sz="1600"/>
          </a:p>
        </p:txBody>
      </p:sp>
      <p:sp>
        <p:nvSpPr>
          <p:cNvPr id="9" name="Text 2"/>
          <p:cNvSpPr/>
          <p:nvPr/>
        </p:nvSpPr>
        <p:spPr>
          <a:xfrm>
            <a:off x="4380297" y="2769104"/>
            <a:ext cx="2526736" cy="69324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 + TM可同时检验量化策略的“行情敏感度”。在复杂的市场环境中，联合使用这两个模型能更全面地评估基金的择时能力。</a:t>
            </a:r>
            <a:endParaRPr lang="en-US" sz="1050"/>
          </a:p>
        </p:txBody>
      </p:sp>
      <p:sp>
        <p:nvSpPr>
          <p:cNvPr id="10" name="Text 3"/>
          <p:cNvSpPr/>
          <p:nvPr/>
        </p:nvSpPr>
        <p:spPr>
          <a:xfrm>
            <a:off x="4379396" y="1101188"/>
            <a:ext cx="252853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CL场景</a:t>
            </a:r>
            <a:endParaRPr lang="en-US" sz="1200"/>
          </a:p>
        </p:txBody>
      </p:sp>
      <p:sp>
        <p:nvSpPr>
          <p:cNvPr id="11" name="Text 4"/>
          <p:cNvSpPr/>
          <p:nvPr/>
        </p:nvSpPr>
        <p:spPr>
          <a:xfrm>
            <a:off x="1150479" y="2769104"/>
            <a:ext cx="2526736" cy="51993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TM模型适合判断策略是否在市场越好时越激进。当市场呈现连续变化趋势时，该模型能更好地捕捉基金的择时行为。</a:t>
            </a:r>
            <a:endParaRPr lang="en-US" sz="1050"/>
          </a:p>
        </p:txBody>
      </p:sp>
      <p:sp>
        <p:nvSpPr>
          <p:cNvPr id="12" name="Text 5"/>
          <p:cNvSpPr/>
          <p:nvPr/>
        </p:nvSpPr>
        <p:spPr>
          <a:xfrm>
            <a:off x="4380297" y="1374990"/>
            <a:ext cx="2526736" cy="51993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CL模型用于大样本基金择时能力研究。通过对大量基金数据的分析，了解行业整体的择时情况。</a:t>
            </a:r>
            <a:endParaRPr lang="en-US" sz="1050"/>
          </a:p>
        </p:txBody>
      </p:sp>
      <p:sp>
        <p:nvSpPr>
          <p:cNvPr id="13" name="Text 6"/>
          <p:cNvSpPr/>
          <p:nvPr/>
        </p:nvSpPr>
        <p:spPr>
          <a:xfrm>
            <a:off x="1149578" y="1101188"/>
            <a:ext cx="252853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HM场景</a:t>
            </a:r>
            <a:endParaRPr lang="en-US" sz="1200"/>
          </a:p>
        </p:txBody>
      </p:sp>
      <p:sp>
        <p:nvSpPr>
          <p:cNvPr id="14" name="Text 7"/>
          <p:cNvSpPr/>
          <p:nvPr/>
        </p:nvSpPr>
        <p:spPr>
          <a:xfrm>
            <a:off x="4379396" y="2495302"/>
            <a:ext cx="252853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联合场景</a:t>
            </a:r>
            <a:endParaRPr lang="en-US" sz="1200"/>
          </a:p>
        </p:txBody>
      </p:sp>
      <p:sp>
        <p:nvSpPr>
          <p:cNvPr id="15" name="Text 8"/>
          <p:cNvSpPr/>
          <p:nvPr/>
        </p:nvSpPr>
        <p:spPr>
          <a:xfrm>
            <a:off x="1149578" y="2495302"/>
            <a:ext cx="252853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TM场景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6" grpId="0" uiExpand="0" advAuto="indefinite" build="whole" animBg="1"/>
      <p1:bldP xmlns:p1="http://schemas.openxmlformats.org/presentationml/2006/main" spid="13" grpId="1" uiExpand="0" advAuto="indefinite" build="whole" animBg="1"/>
      <p1:bldP xmlns:p1="http://schemas.openxmlformats.org/presentationml/2006/main" spid="7" grpId="2" uiExpand="0" advAuto="indefinite" build="whole" animBg="1"/>
      <p1:bldP xmlns:p1="http://schemas.openxmlformats.org/presentationml/2006/main" spid="4" grpId="3" uiExpand="0" advAuto="indefinite" build="whole" animBg="1"/>
      <p1:bldP xmlns:p1="http://schemas.openxmlformats.org/presentationml/2006/main" spid="15" grpId="4" uiExpand="0" advAuto="indefinite" build="whole" animBg="1"/>
      <p1:bldP xmlns:p1="http://schemas.openxmlformats.org/presentationml/2006/main" spid="11" grpId="5" uiExpand="0" advAuto="indefinite" build="whole" animBg="1"/>
      <p1:bldP xmlns:p1="http://schemas.openxmlformats.org/presentationml/2006/main" spid="5" grpId="6" uiExpand="0" advAuto="indefinite" build="whole" animBg="1"/>
      <p1:bldP xmlns:p1="http://schemas.openxmlformats.org/presentationml/2006/main" spid="10" grpId="7" uiExpand="0" advAuto="indefinite" build="whole" animBg="1"/>
      <p1:bldP xmlns:p1="http://schemas.openxmlformats.org/presentationml/2006/main" spid="12" grpId="8" uiExpand="0" advAuto="indefinite" build="whole" animBg="1"/>
      <p1:bldP xmlns:p1="http://schemas.openxmlformats.org/presentationml/2006/main" spid="3" grpId="9" uiExpand="0" advAuto="indefinite" build="whole" animBg="1"/>
      <p1:bldP xmlns:p1="http://schemas.openxmlformats.org/presentationml/2006/main" spid="14" grpId="10" uiExpand="0" advAuto="indefinite" build="whole" animBg="1"/>
      <p1:bldP xmlns:p1="http://schemas.openxmlformats.org/presentationml/2006/main" spid="9" grpId="11" uiExpand="0" advAuto="indefinite" build="whol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13081286f0b2d05fd2169c9a0693bfb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oss.jianzeppt.com/editablePptPic/isIllustration_2_isShadow_1/e79474bc-dbf7-4890-814f-d06bed6fdb74_image_12125922ab0e67b804449bdb14e3abe6_-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625" y="1682750"/>
            <a:ext cx="1547813" cy="2111375"/>
          </a:xfrm>
          <a:prstGeom prst="rect"/>
        </p:spPr>
      </p:pic>
      <p:pic>
        <p:nvPicPr>
          <p:cNvPr id="4" name="Image 2" descr="https://test.web.static.jianzeppt.com/ppt-temp-img/9f84cb01e3b7597789659a2a704c2af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7232" y="1661636"/>
            <a:ext cx="1547349" cy="2113701"/>
          </a:xfrm>
          <a:prstGeom prst="rect"/>
        </p:spPr>
      </p:pic>
      <p:pic>
        <p:nvPicPr>
          <p:cNvPr id="5" name="Image 3" descr="https://oss.jianzeppt.com/editablePptPic/isIllustration_2_isShadow_1/e79474bc-dbf7-4890-814f-d06bed6fdb74_image_12125922ab0e67b804449bdb14e3abe6_-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4563" y="1682750"/>
            <a:ext cx="1547813" cy="2111375"/>
          </a:xfrm>
          <a:prstGeom prst="rect"/>
        </p:spPr>
      </p:pic>
      <p:pic>
        <p:nvPicPr>
          <p:cNvPr id="6" name="Image 4" descr="https://test.web.static.jianzeppt.com/ppt-temp-img/c51c9d80ffa54d0b8c77ce95f47362a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97672" y="1661636"/>
            <a:ext cx="1547349" cy="2113701"/>
          </a:xfrm>
          <a:prstGeom prst="rect"/>
        </p:spPr>
      </p:pic>
      <p:pic>
        <p:nvPicPr>
          <p:cNvPr id="7" name="Image 5" descr="https://oss.jianzeppt.com/editablePptPic/isIllustration_2_isShadow_1/e79474bc-dbf7-4890-814f-d06bed6fdb74_image_12125922ab0e67b804449bdb14e3abe6_-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73500" y="1682750"/>
            <a:ext cx="1547813" cy="2111375"/>
          </a:xfrm>
          <a:prstGeom prst="rect"/>
        </p:spPr>
      </p:pic>
      <p:pic>
        <p:nvPicPr>
          <p:cNvPr id="8" name="Image 6" descr="https://test.web.static.jianzeppt.com/ppt-temp-img/a3e283ff809fe089ca8666ef5f7d4fa2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58111" y="1661636"/>
            <a:ext cx="1547350" cy="2113701"/>
          </a:xfrm>
          <a:prstGeom prst="rect"/>
        </p:spPr>
      </p:pic>
      <p:pic>
        <p:nvPicPr>
          <p:cNvPr id="9" name="Image 7" descr="https://oss.jianzeppt.com/editablePptPic/isIllustration_2_isShadow_1/e79474bc-dbf7-4890-814f-d06bed6fdb74_image_12125922ab0e67b804449bdb14e3abe6_-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40375" y="1682750"/>
            <a:ext cx="1547813" cy="2111375"/>
          </a:xfrm>
          <a:prstGeom prst="rect"/>
        </p:spPr>
      </p:pic>
      <p:pic>
        <p:nvPicPr>
          <p:cNvPr id="10" name="Image 8" descr="https://test.web.static.jianzeppt.com/ppt-temp-img/16afcf761277541de7e305a385fc0fab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518550" y="1661636"/>
            <a:ext cx="1547350" cy="2113701"/>
          </a:xfrm>
          <a:prstGeom prst="rect"/>
        </p:spPr>
      </p:pic>
      <p:pic>
        <p:nvPicPr>
          <p:cNvPr id="11" name="Image 9" descr="https://oss.jianzeppt.com/editablePptPic/isIllustration_2_isShadow_1/e79474bc-dbf7-4890-814f-d06bed6fdb74_image_34c35d9e313e406f99f77a23a883fc46_-1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214437" y="873125"/>
            <a:ext cx="222250" cy="222250"/>
          </a:xfrm>
          <a:prstGeom prst="rect"/>
        </p:spPr>
      </p:pic>
      <p:pic>
        <p:nvPicPr>
          <p:cNvPr id="12" name="Image 10" descr="https://test.web.static.jianzeppt.com/ppt-temp-img/927d9db51ffe3b771ea1c2466ae77f40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184675" y="843532"/>
            <a:ext cx="252464" cy="252464"/>
          </a:xfrm>
          <a:prstGeom prst="rect"/>
        </p:spPr>
      </p:pic>
      <p:pic>
        <p:nvPicPr>
          <p:cNvPr id="13" name="Image 11" descr="https://oss.jianzeppt.com/editablePptPic/isIllustration_2_isShadow_1/e79474bc-dbf7-4890-814f-d06bed6fdb74_image_34c35d9e313e406f99f77a23a883fc46_-1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540250" y="873125"/>
            <a:ext cx="222250" cy="222250"/>
          </a:xfrm>
          <a:prstGeom prst="rect"/>
        </p:spPr>
      </p:pic>
      <p:pic>
        <p:nvPicPr>
          <p:cNvPr id="14" name="Image 12" descr="https://test.web.static.jianzeppt.com/ppt-temp-img/3919942b4268f5287ea9d662f85ec31b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505553" y="843532"/>
            <a:ext cx="252464" cy="252464"/>
          </a:xfrm>
          <a:prstGeom prst="rect"/>
        </p:spPr>
      </p:pic>
      <p:pic>
        <p:nvPicPr>
          <p:cNvPr id="15" name="Image 13" descr="https://oss.jianzeppt.com/editablePptPic/isIllustration_2_isShadow_1/e79474bc-dbf7-4890-814f-d06bed6fdb74_image_34c35d9e313e406f99f77a23a883fc46_-1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873375" y="873125"/>
            <a:ext cx="222250" cy="222250"/>
          </a:xfrm>
          <a:prstGeom prst="rect"/>
        </p:spPr>
      </p:pic>
      <p:pic>
        <p:nvPicPr>
          <p:cNvPr id="16" name="Image 14" descr="https://test.web.static.jianzeppt.com/ppt-temp-img/23db18545ea639f8178accdc7f60d5ce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45114" y="843532"/>
            <a:ext cx="252464" cy="252464"/>
          </a:xfrm>
          <a:prstGeom prst="rect"/>
        </p:spPr>
      </p:pic>
      <p:pic>
        <p:nvPicPr>
          <p:cNvPr id="17" name="Image 15" descr="https://oss.jianzeppt.com/editablePptPic/isIllustration_2_isShadow_1/e79474bc-dbf7-4890-814f-d06bed6fdb74_image_34c35d9e313e406f99f77a23a883fc46_-1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199188" y="873125"/>
            <a:ext cx="222250" cy="222250"/>
          </a:xfrm>
          <a:prstGeom prst="rect"/>
        </p:spPr>
      </p:pic>
      <p:pic>
        <p:nvPicPr>
          <p:cNvPr id="18" name="Image 16" descr="https://test.web.static.jianzeppt.com/ppt-temp-img/66dadcc09a8bbb2df0bc75d58fd7459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6165418" y="843532"/>
            <a:ext cx="252464" cy="252464"/>
          </a:xfrm>
          <a:prstGeom prst="rect"/>
        </p:spPr>
      </p:pic>
      <p:pic>
        <p:nvPicPr>
          <p:cNvPr id="19" name="Image 17" descr="https://test.web.static.jianzeppt.com/ppt-temp-img/4ea1c3e90bcdab9be74f14234d12637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873403" y="1025549"/>
            <a:ext cx="381719" cy="680521"/>
          </a:xfrm>
          <a:prstGeom prst="rect"/>
        </p:spPr>
      </p:pic>
      <p:pic>
        <p:nvPicPr>
          <p:cNvPr id="20" name="Image 18" descr="https://test.web.static.jianzeppt.com/ppt-temp-img/f4c12dcc19ab2c3ea86bce4b2309420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1355760" y="1025549"/>
            <a:ext cx="380782" cy="680521"/>
          </a:xfrm>
          <a:prstGeom prst="rect"/>
        </p:spPr>
      </p:pic>
      <p:pic>
        <p:nvPicPr>
          <p:cNvPr id="21" name="Image 19" descr="https://test.web.static.jianzeppt.com/ppt-temp-img/55222737f7c1359b06bcec5dc89183f1.png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4194281" y="1025549"/>
            <a:ext cx="381719" cy="680521"/>
          </a:xfrm>
          <a:prstGeom prst="rect"/>
        </p:spPr>
      </p:pic>
      <p:pic>
        <p:nvPicPr>
          <p:cNvPr id="22" name="Image 20" descr="https://test.web.static.jianzeppt.com/ppt-temp-img/5f23d9bf9e6027633aa91f48659b67c7.png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4676638" y="1025549"/>
            <a:ext cx="380782" cy="680521"/>
          </a:xfrm>
          <a:prstGeom prst="rect"/>
        </p:spPr>
      </p:pic>
      <p:pic>
        <p:nvPicPr>
          <p:cNvPr id="23" name="Image 21" descr="https://test.web.static.jianzeppt.com/ppt-temp-img/3ede0f3b11b414fa7a0ba2f85cecfd61.png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2533841" y="1025549"/>
            <a:ext cx="381719" cy="680521"/>
          </a:xfrm>
          <a:prstGeom prst="rect"/>
        </p:spPr>
      </p:pic>
      <p:pic>
        <p:nvPicPr>
          <p:cNvPr id="24" name="Image 22" descr="https://test.web.static.jianzeppt.com/ppt-temp-img/64ff90fccc4efac36d01c1a8cd901b96.png"/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>
          <a:xfrm>
            <a:off x="3016199" y="1025549"/>
            <a:ext cx="380782" cy="680521"/>
          </a:xfrm>
          <a:prstGeom prst="rect"/>
        </p:spPr>
      </p:pic>
      <p:pic>
        <p:nvPicPr>
          <p:cNvPr id="25" name="Image 23" descr="https://test.web.static.jianzeppt.com/ppt-temp-img/917b2d4d0dfc013a1b5af81d5e9fc794.png"/>
          <p:cNvPicPr>
            <a:picLocks noChangeAspect="1"/>
          </p:cNvPicPr>
          <p:nvPr/>
        </p:nvPicPr>
        <p:blipFill>
          <a:blip r:embed="rId24"/>
          <a:srcRect/>
          <a:stretch>
            <a:fillRect/>
          </a:stretch>
        </p:blipFill>
        <p:spPr>
          <a:xfrm>
            <a:off x="5862443" y="1025549"/>
            <a:ext cx="381718" cy="680521"/>
          </a:xfrm>
          <a:prstGeom prst="rect"/>
        </p:spPr>
      </p:pic>
      <p:pic>
        <p:nvPicPr>
          <p:cNvPr id="26" name="Image 24" descr="https://test.web.static.jianzeppt.com/ppt-temp-img/da30b4cab73c818f6de550decae82bde.png"/>
          <p:cNvPicPr>
            <a:picLocks noChangeAspect="1"/>
          </p:cNvPicPr>
          <p:nvPr/>
        </p:nvPicPr>
        <p:blipFill>
          <a:blip r:embed="rId25"/>
          <a:srcRect/>
          <a:stretch>
            <a:fillRect/>
          </a:stretch>
        </p:blipFill>
        <p:spPr>
          <a:xfrm>
            <a:off x="6344798" y="1025549"/>
            <a:ext cx="380781" cy="680521"/>
          </a:xfrm>
          <a:prstGeom prst="rect"/>
        </p:spPr>
      </p:pic>
      <p:sp>
        <p:nvSpPr>
          <p:cNvPr id="27" name="Text 0"/>
          <p:cNvSpPr/>
          <p:nvPr/>
        </p:nvSpPr>
        <p:spPr>
          <a:xfrm>
            <a:off x="4078905" y="1915130"/>
            <a:ext cx="109507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动量策略</a:t>
            </a:r>
            <a:endParaRPr lang="en-US" sz="1200"/>
          </a:p>
        </p:txBody>
      </p:sp>
      <p:sp>
        <p:nvSpPr>
          <p:cNvPr id="28" name="Text 1"/>
          <p:cNvSpPr/>
          <p:nvPr/>
        </p:nvSpPr>
        <p:spPr>
          <a:xfrm>
            <a:off x="4079806" y="2270308"/>
            <a:ext cx="1093274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动量策略有时表现为对市场方向的“放大效果”，TM模型能更好地捕捉这种变化，因此更适配。</a:t>
            </a:r>
            <a:endParaRPr lang="en-US" sz="1050"/>
          </a:p>
        </p:txBody>
      </p:sp>
      <p:sp>
        <p:nvSpPr>
          <p:cNvPr id="29" name="Text 2"/>
          <p:cNvSpPr/>
          <p:nvPr/>
        </p:nvSpPr>
        <p:spPr>
          <a:xfrm>
            <a:off x="758027" y="1915130"/>
            <a:ext cx="109507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趋势策略</a:t>
            </a:r>
            <a:endParaRPr lang="en-US" sz="1200"/>
          </a:p>
        </p:txBody>
      </p:sp>
      <p:sp>
        <p:nvSpPr>
          <p:cNvPr id="30" name="Text 3"/>
          <p:cNvSpPr/>
          <p:nvPr/>
        </p:nvSpPr>
        <p:spPr>
          <a:xfrm>
            <a:off x="2426190" y="1915130"/>
            <a:ext cx="109507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CTA策略</a:t>
            </a:r>
            <a:endParaRPr lang="en-US" sz="1200"/>
          </a:p>
        </p:txBody>
      </p:sp>
      <p:sp>
        <p:nvSpPr>
          <p:cNvPr id="31" name="Text 4"/>
          <p:cNvSpPr/>
          <p:nvPr/>
        </p:nvSpPr>
        <p:spPr>
          <a:xfrm>
            <a:off x="5740245" y="2270308"/>
            <a:ext cx="1093274" cy="104298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多因子股票策略可同时使用HM和TM模型。通过这两个模型，可判断策略在牛市和熊市中的仓位调整情况。</a:t>
            </a:r>
            <a:endParaRPr lang="en-US" sz="1050"/>
          </a:p>
        </p:txBody>
      </p:sp>
      <p:sp>
        <p:nvSpPr>
          <p:cNvPr id="32" name="Text 5"/>
          <p:cNvSpPr/>
          <p:nvPr/>
        </p:nvSpPr>
        <p:spPr>
          <a:xfrm>
            <a:off x="5739345" y="1915130"/>
            <a:ext cx="109507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多因子策略</a:t>
            </a:r>
            <a:endParaRPr lang="en-US" sz="1200"/>
          </a:p>
        </p:txBody>
      </p:sp>
      <p:sp>
        <p:nvSpPr>
          <p:cNvPr id="33" name="Text 6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策略适配</a:t>
            </a:r>
            <a:endParaRPr lang="en-US" sz="1600"/>
          </a:p>
        </p:txBody>
      </p:sp>
      <p:sp>
        <p:nvSpPr>
          <p:cNvPr id="34" name="Text 7"/>
          <p:cNvSpPr/>
          <p:nvPr/>
        </p:nvSpPr>
        <p:spPr>
          <a:xfrm>
            <a:off x="758928" y="2270308"/>
            <a:ext cx="1093274" cy="103971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趋势策略更适合TM模型。因为趋势策略典型具有“凸性”，能与TM模型的平滑式择时相匹配。在市场上涨时，策略能及时增加投资。</a:t>
            </a:r>
            <a:endParaRPr lang="en-US" sz="900"/>
          </a:p>
        </p:txBody>
      </p:sp>
      <p:sp>
        <p:nvSpPr>
          <p:cNvPr id="35" name="Text 8"/>
          <p:cNvSpPr/>
          <p:nvPr/>
        </p:nvSpPr>
        <p:spPr>
          <a:xfrm>
            <a:off x="2427090" y="2270308"/>
            <a:ext cx="1093274" cy="104298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3E3E3E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CTA动态beta策略适合HM模型。其多空暴露可能在不同行情切换，与HM的离散式择时逻辑相符。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Part.06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优缺点析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模型优缺点分析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8d61f4f069714deb96b25ba34c93c34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36709a44a99b9ac2c065f5dcd0e5d9f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0355" y="1699250"/>
            <a:ext cx="5067634" cy="965886"/>
          </a:xfrm>
          <a:prstGeom prst="rect"/>
        </p:spPr>
      </p:pic>
      <p:pic>
        <p:nvPicPr>
          <p:cNvPr id="4" name="Image 2" descr="https://test.web.static.jianzeppt.com/ppt-temp-img/5ff4587cec7bb1cbe0d610fe35f7dd8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1863" y="2344233"/>
            <a:ext cx="256381" cy="256374"/>
          </a:xfrm>
          <a:prstGeom prst="rect"/>
        </p:spPr>
      </p:pic>
      <p:pic>
        <p:nvPicPr>
          <p:cNvPr id="5" name="Image 3" descr="https://test.web.static.jianzeppt.com/ppt-temp-img/9b6e4a54a4856edf65d21f9a3498d13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2136" y="2417532"/>
            <a:ext cx="116628" cy="110044"/>
          </a:xfrm>
          <a:prstGeom prst="rect"/>
        </p:spPr>
      </p:pic>
      <p:pic>
        <p:nvPicPr>
          <p:cNvPr id="6" name="Image 4" descr="https://test.web.static.jianzeppt.com/ppt-temp-img/6183899d7a56722e445b34c6edac562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572544" y="1639456"/>
            <a:ext cx="256381" cy="256373"/>
          </a:xfrm>
          <a:prstGeom prst="rect"/>
        </p:spPr>
      </p:pic>
      <p:pic>
        <p:nvPicPr>
          <p:cNvPr id="7" name="Image 5" descr="https://test.web.static.jianzeppt.com/ppt-temp-img/d9740f20fd23c0a79ff8e9771d4769bc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642817" y="1720409"/>
            <a:ext cx="116628" cy="110044"/>
          </a:xfrm>
          <a:prstGeom prst="rect"/>
        </p:spPr>
      </p:pic>
      <p:pic>
        <p:nvPicPr>
          <p:cNvPr id="8" name="Image 6" descr="https://test.web.static.jianzeppt.com/ppt-temp-img/afd7bf2ad614ca3088570b19de70e25b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14019" y="2345880"/>
            <a:ext cx="256381" cy="256374"/>
          </a:xfrm>
          <a:prstGeom prst="rect"/>
        </p:spPr>
      </p:pic>
      <p:pic>
        <p:nvPicPr>
          <p:cNvPr id="9" name="Image 7" descr="https://test.web.static.jianzeppt.com/ppt-temp-img/d5e0a2b9cb42a05f6feda99825c561b4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284292" y="2419174"/>
            <a:ext cx="116628" cy="110044"/>
          </a:xfrm>
          <a:prstGeom prst="rect"/>
        </p:spPr>
      </p:pic>
      <p:pic>
        <p:nvPicPr>
          <p:cNvPr id="10" name="Image 8" descr="https://test.web.static.jianzeppt.com/ppt-temp-img/6ee1c32bf42b6a056befb27a39bc6db1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854700" y="2341948"/>
            <a:ext cx="259556" cy="256373"/>
          </a:xfrm>
          <a:prstGeom prst="rect"/>
        </p:spPr>
      </p:pic>
      <p:pic>
        <p:nvPicPr>
          <p:cNvPr id="11" name="Image 9" descr="https://test.web.static.jianzeppt.com/ppt-temp-img/a7e762005d44bceb0bf3a2ef6a2f366a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926561" y="2415242"/>
            <a:ext cx="116628" cy="110044"/>
          </a:xfrm>
          <a:prstGeom prst="rect"/>
        </p:spPr>
      </p:pic>
      <p:sp>
        <p:nvSpPr>
          <p:cNvPr id="12" name="Text 0"/>
          <p:cNvSpPr/>
          <p:nvPr/>
        </p:nvSpPr>
        <p:spPr>
          <a:xfrm>
            <a:off x="5838594" y="2704791"/>
            <a:ext cx="100041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改进方向</a:t>
            </a:r>
            <a:endParaRPr lang="en-US" sz="1200"/>
          </a:p>
        </p:txBody>
      </p:sp>
      <p:sp>
        <p:nvSpPr>
          <p:cNvPr id="13" name="Text 1"/>
          <p:cNvSpPr/>
          <p:nvPr/>
        </p:nvSpPr>
        <p:spPr>
          <a:xfrm>
            <a:off x="4209100" y="2944434"/>
            <a:ext cx="1001601" cy="8911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总体而言，HM模型在市场波动明显的情况下有一定优势，但对于市场变化复杂的情况，其适用性有限。</a:t>
            </a:r>
            <a:endParaRPr lang="en-US" sz="900"/>
          </a:p>
        </p:txBody>
      </p:sp>
      <p:sp>
        <p:nvSpPr>
          <p:cNvPr id="14" name="Text 2"/>
          <p:cNvSpPr/>
          <p:nvPr/>
        </p:nvSpPr>
        <p:spPr>
          <a:xfrm>
            <a:off x="5855334" y="2957164"/>
            <a:ext cx="1001601" cy="8911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可考虑增加对市场连续变化的描述能力，以提高模型的适应性。例如，引入更多的参数来描述市场状态。</a:t>
            </a:r>
            <a:endParaRPr lang="en-US" sz="900"/>
          </a:p>
        </p:txBody>
      </p:sp>
      <p:sp>
        <p:nvSpPr>
          <p:cNvPr id="15" name="Text 3"/>
          <p:cNvSpPr/>
          <p:nvPr/>
        </p:nvSpPr>
        <p:spPr>
          <a:xfrm>
            <a:off x="916756" y="2949768"/>
            <a:ext cx="1001601" cy="8911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HM模型的优点是直观，β的两段差异很好解释。投资者可以很容易理解基金在不同市场状态下的策略变化。</a:t>
            </a:r>
            <a:endParaRPr lang="en-US" sz="900"/>
          </a:p>
        </p:txBody>
      </p:sp>
      <p:sp>
        <p:nvSpPr>
          <p:cNvPr id="16" name="Text 4"/>
          <p:cNvSpPr/>
          <p:nvPr/>
        </p:nvSpPr>
        <p:spPr>
          <a:xfrm>
            <a:off x="915856" y="2702507"/>
            <a:ext cx="100041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优点阐述</a:t>
            </a:r>
            <a:endParaRPr lang="en-US" sz="1200"/>
          </a:p>
        </p:txBody>
      </p:sp>
      <p:sp>
        <p:nvSpPr>
          <p:cNvPr id="17" name="Text 5"/>
          <p:cNvSpPr/>
          <p:nvPr/>
        </p:nvSpPr>
        <p:spPr>
          <a:xfrm>
            <a:off x="2556562" y="1997729"/>
            <a:ext cx="99271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缺点分析</a:t>
            </a:r>
            <a:endParaRPr lang="en-US" sz="1200"/>
          </a:p>
        </p:txBody>
      </p:sp>
      <p:sp>
        <p:nvSpPr>
          <p:cNvPr id="18" name="Text 6"/>
          <p:cNvSpPr/>
          <p:nvPr/>
        </p:nvSpPr>
        <p:spPr>
          <a:xfrm>
            <a:off x="2557463" y="2241304"/>
            <a:ext cx="1001601" cy="8911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其缺点是只能给两段β，不能描述平滑调整。在市场连续变化时，无法及时准确地反映基金的择时情况。</a:t>
            </a:r>
            <a:endParaRPr lang="en-US" sz="900"/>
          </a:p>
        </p:txBody>
      </p:sp>
      <p:sp>
        <p:nvSpPr>
          <p:cNvPr id="19" name="Text 7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HM优缺点</a:t>
            </a:r>
            <a:endParaRPr lang="en-US" sz="1600"/>
          </a:p>
        </p:txBody>
      </p:sp>
      <p:sp>
        <p:nvSpPr>
          <p:cNvPr id="20" name="Text 8"/>
          <p:cNvSpPr/>
          <p:nvPr/>
        </p:nvSpPr>
        <p:spPr>
          <a:xfrm>
            <a:off x="4197640" y="2700859"/>
            <a:ext cx="1008119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综合评价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4" grpId="1" uiExpand="0" advAuto="indefinite" build="whole" animBg="1"/>
      <p1:bldP xmlns:p1="http://schemas.openxmlformats.org/presentationml/2006/main" spid="5" grpId="2" uiExpand="0" advAuto="indefinite" build="whole" animBg="1"/>
      <p1:bldP xmlns:p1="http://schemas.openxmlformats.org/presentationml/2006/main" spid="16" grpId="3" uiExpand="0" advAuto="indefinite" build="whole" animBg="1"/>
      <p1:bldP xmlns:p1="http://schemas.openxmlformats.org/presentationml/2006/main" spid="15" grpId="4" uiExpand="0" advAuto="indefinite" build="whole" animBg="1"/>
      <p1:bldP xmlns:p1="http://schemas.openxmlformats.org/presentationml/2006/main" spid="6" grpId="5" uiExpand="0" advAuto="indefinite" build="whole" animBg="1"/>
      <p1:bldP xmlns:p1="http://schemas.openxmlformats.org/presentationml/2006/main" spid="7" grpId="6" uiExpand="0" advAuto="indefinite" build="whole" animBg="1"/>
      <p1:bldP xmlns:p1="http://schemas.openxmlformats.org/presentationml/2006/main" spid="17" grpId="7" uiExpand="0" advAuto="indefinite" build="whole" animBg="1"/>
      <p1:bldP xmlns:p1="http://schemas.openxmlformats.org/presentationml/2006/main" spid="18" grpId="8" uiExpand="0" advAuto="indefinite" build="whole" animBg="1"/>
      <p1:bldP xmlns:p1="http://schemas.openxmlformats.org/presentationml/2006/main" spid="8" grpId="9" uiExpand="0" advAuto="indefinite" build="whole" animBg="1"/>
      <p1:bldP xmlns:p1="http://schemas.openxmlformats.org/presentationml/2006/main" spid="9" grpId="10" uiExpand="0" advAuto="indefinite" build="whole" animBg="1"/>
      <p1:bldP xmlns:p1="http://schemas.openxmlformats.org/presentationml/2006/main" spid="20" grpId="11" uiExpand="0" advAuto="indefinite" build="whole" animBg="1"/>
      <p1:bldP xmlns:p1="http://schemas.openxmlformats.org/presentationml/2006/main" spid="13" grpId="12" uiExpand="0" advAuto="indefinite" build="whole" animBg="1"/>
      <p1:bldP xmlns:p1="http://schemas.openxmlformats.org/presentationml/2006/main" spid="10" grpId="13" uiExpand="0" advAuto="indefinite" build="whole" animBg="1"/>
      <p1:bldP xmlns:p1="http://schemas.openxmlformats.org/presentationml/2006/main" spid="11" grpId="14" uiExpand="0" advAuto="indefinite" build="whole" animBg="1"/>
      <p1:bldP xmlns:p1="http://schemas.openxmlformats.org/presentationml/2006/main" spid="12" grpId="15" uiExpand="0" advAuto="indefinite" build="whole" animBg="1"/>
      <p1:bldP xmlns:p1="http://schemas.openxmlformats.org/presentationml/2006/main" spid="14" grpId="16" uiExpand="0" advAuto="indefinite" build="whol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fb95abea1ab003bc6e6159be75d4e59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439baf516fb4d6c9f3454c0b5e517807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90169" y="954451"/>
            <a:ext cx="2709862" cy="1322024"/>
          </a:xfrm>
          <a:prstGeom prst="rect"/>
        </p:spPr>
      </p:pic>
      <p:pic>
        <p:nvPicPr>
          <p:cNvPr id="4" name="Image 2" descr="https://test.web.static.jianzeppt.com/ppt-temp-img/c360673fd059f4e3f831efa78c606939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05044" y="1197281"/>
            <a:ext cx="274330" cy="301781"/>
          </a:xfrm>
          <a:prstGeom prst="rect"/>
        </p:spPr>
      </p:pic>
      <p:pic>
        <p:nvPicPr>
          <p:cNvPr id="5" name="Image 3" descr="https://test.web.static.jianzeppt.com/ppt-temp-img/cccacc72bd8ead8fe7e7de946dfb650a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2663" y="954451"/>
            <a:ext cx="2709862" cy="1322024"/>
          </a:xfrm>
          <a:prstGeom prst="rect"/>
        </p:spPr>
      </p:pic>
      <p:pic>
        <p:nvPicPr>
          <p:cNvPr id="6" name="Image 4" descr="https://test.web.static.jianzeppt.com/ppt-temp-img/49068ce1c4b56a6f8ec7b57170efe836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03094" y="1197281"/>
            <a:ext cx="274330" cy="301781"/>
          </a:xfrm>
          <a:prstGeom prst="rect"/>
        </p:spPr>
      </p:pic>
      <p:pic>
        <p:nvPicPr>
          <p:cNvPr id="7" name="Image 5" descr="https://test.web.static.jianzeppt.com/ppt-temp-img/2a02f49f61bbc2eb28e6430fc37dd104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82663" y="2462848"/>
            <a:ext cx="2709862" cy="1322025"/>
          </a:xfrm>
          <a:prstGeom prst="rect"/>
        </p:spPr>
      </p:pic>
      <p:pic>
        <p:nvPicPr>
          <p:cNvPr id="8" name="Image 6" descr="https://test.web.static.jianzeppt.com/ppt-temp-img/a470f62a2bd7e165742bec26c9dd92df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303491" y="2705678"/>
            <a:ext cx="274330" cy="301781"/>
          </a:xfrm>
          <a:prstGeom prst="rect"/>
        </p:spPr>
      </p:pic>
      <p:pic>
        <p:nvPicPr>
          <p:cNvPr id="9" name="Image 7" descr="https://test.web.static.jianzeppt.com/ppt-temp-img/630f2c55f2c8e89bf632c0e312dc4cb1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890169" y="2462848"/>
            <a:ext cx="2709862" cy="1322024"/>
          </a:xfrm>
          <a:prstGeom prst="rect"/>
        </p:spPr>
      </p:pic>
      <p:pic>
        <p:nvPicPr>
          <p:cNvPr id="10" name="Image 8" descr="https://test.web.static.jianzeppt.com/ppt-temp-img/fc989c41524e94a8f0ce93c03b41d478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199488" y="2703186"/>
            <a:ext cx="274330" cy="301781"/>
          </a:xfrm>
          <a:prstGeom prst="rect"/>
        </p:spPr>
      </p:pic>
      <p:sp>
        <p:nvSpPr>
          <p:cNvPr id="11" name="Text 0"/>
          <p:cNvSpPr/>
          <p:nvPr/>
        </p:nvSpPr>
        <p:spPr>
          <a:xfrm>
            <a:off x="4726600" y="2665591"/>
            <a:ext cx="135049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优化建议</a:t>
            </a:r>
            <a:endParaRPr lang="en-US" sz="1200"/>
          </a:p>
        </p:txBody>
      </p:sp>
      <p:sp>
        <p:nvSpPr>
          <p:cNvPr id="12" name="Text 1"/>
          <p:cNvSpPr/>
          <p:nvPr/>
        </p:nvSpPr>
        <p:spPr>
          <a:xfrm>
            <a:off x="1819709" y="2953777"/>
            <a:ext cx="1356230" cy="54471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二次项容易受极端点影响，解释起来不如HM直观。这可能导致对择时能力的误判，增加投资风险。</a:t>
            </a:r>
            <a:endParaRPr lang="en-US" sz="830"/>
          </a:p>
        </p:txBody>
      </p:sp>
      <p:sp>
        <p:nvSpPr>
          <p:cNvPr id="13" name="Text 2"/>
          <p:cNvSpPr/>
          <p:nvPr/>
        </p:nvSpPr>
        <p:spPr>
          <a:xfrm>
            <a:off x="4726662" y="1157195"/>
            <a:ext cx="135049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整体评估</a:t>
            </a:r>
            <a:endParaRPr lang="en-US" sz="1200"/>
          </a:p>
        </p:txBody>
      </p:sp>
      <p:sp>
        <p:nvSpPr>
          <p:cNvPr id="14" name="Text 3"/>
          <p:cNvSpPr/>
          <p:nvPr/>
        </p:nvSpPr>
        <p:spPr>
          <a:xfrm>
            <a:off x="4727563" y="1445380"/>
            <a:ext cx="1356230" cy="59412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FFFFFF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TM模型在市场趋势不明显时具有优势，但在市场波动较大、有极端值出现时，其可靠性会降低。</a:t>
            </a:r>
            <a:endParaRPr lang="en-US" sz="900"/>
          </a:p>
        </p:txBody>
      </p:sp>
      <p:sp>
        <p:nvSpPr>
          <p:cNvPr id="15" name="Text 4"/>
          <p:cNvSpPr/>
          <p:nvPr/>
        </p:nvSpPr>
        <p:spPr>
          <a:xfrm>
            <a:off x="1818809" y="2665591"/>
            <a:ext cx="135819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不足分析</a:t>
            </a:r>
            <a:endParaRPr lang="en-US" sz="1200"/>
          </a:p>
        </p:txBody>
      </p:sp>
      <p:sp>
        <p:nvSpPr>
          <p:cNvPr id="16" name="Text 5"/>
          <p:cNvSpPr/>
          <p:nvPr/>
        </p:nvSpPr>
        <p:spPr>
          <a:xfrm>
            <a:off x="4727377" y="2953777"/>
            <a:ext cx="1356230" cy="59412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可采用更稳健的统计方法处理二次项，减少极端点的影响。同时，加强对模型的解释和说明。</a:t>
            </a:r>
            <a:endParaRPr lang="en-US" sz="900"/>
          </a:p>
        </p:txBody>
      </p:sp>
      <p:sp>
        <p:nvSpPr>
          <p:cNvPr id="17" name="Text 6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TM优缺点</a:t>
            </a:r>
            <a:endParaRPr lang="en-US" sz="1600"/>
          </a:p>
        </p:txBody>
      </p:sp>
      <p:sp>
        <p:nvSpPr>
          <p:cNvPr id="18" name="Text 7"/>
          <p:cNvSpPr/>
          <p:nvPr/>
        </p:nvSpPr>
        <p:spPr>
          <a:xfrm>
            <a:off x="1819709" y="1445380"/>
            <a:ext cx="1356230" cy="54471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TM模型能捕捉“β随行情连续变化”的能力强。在市场连续变化时，能更准确地反映基金的择时行为。</a:t>
            </a:r>
            <a:endParaRPr lang="en-US" sz="830"/>
          </a:p>
        </p:txBody>
      </p:sp>
      <p:sp>
        <p:nvSpPr>
          <p:cNvPr id="19" name="Text 8"/>
          <p:cNvSpPr/>
          <p:nvPr/>
        </p:nvSpPr>
        <p:spPr>
          <a:xfrm>
            <a:off x="1818809" y="1157195"/>
            <a:ext cx="135819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优势体现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250"/>
                            </p:stCondLst>
                            <p:childTnLst>
                              <p:par>
                                <p:cTn id="38" presetID="10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5" grpId="0" uiExpand="0" advAuto="indefinite" build="whole" animBg="1"/>
      <p1:bldP xmlns:p1="http://schemas.openxmlformats.org/presentationml/2006/main" spid="7" grpId="1" uiExpand="0" advAuto="indefinite" build="whole" animBg="1"/>
      <p1:bldP xmlns:p1="http://schemas.openxmlformats.org/presentationml/2006/main" spid="3" grpId="2" uiExpand="0" advAuto="indefinite" build="whole" animBg="1"/>
      <p1:bldP xmlns:p1="http://schemas.openxmlformats.org/presentationml/2006/main" spid="9" grpId="3" uiExpand="0" advAuto="indefinite" build="whole" animBg="1"/>
      <p1:bldP xmlns:p1="http://schemas.openxmlformats.org/presentationml/2006/main" spid="6" grpId="4" uiExpand="0" advAuto="indefinite" build="whole" animBg="1"/>
      <p1:bldP xmlns:p1="http://schemas.openxmlformats.org/presentationml/2006/main" spid="19" grpId="5" uiExpand="0" advAuto="indefinite" build="whole" animBg="1"/>
      <p1:bldP xmlns:p1="http://schemas.openxmlformats.org/presentationml/2006/main" spid="18" grpId="6" uiExpand="0" advAuto="indefinite" build="whole" animBg="1"/>
      <p1:bldP xmlns:p1="http://schemas.openxmlformats.org/presentationml/2006/main" spid="8" grpId="7" uiExpand="0" advAuto="indefinite" build="whole" animBg="1"/>
      <p1:bldP xmlns:p1="http://schemas.openxmlformats.org/presentationml/2006/main" spid="15" grpId="8" uiExpand="0" advAuto="indefinite" build="whole" animBg="1"/>
      <p1:bldP xmlns:p1="http://schemas.openxmlformats.org/presentationml/2006/main" spid="12" grpId="9" uiExpand="0" advAuto="indefinite" build="whole" animBg="1"/>
      <p1:bldP xmlns:p1="http://schemas.openxmlformats.org/presentationml/2006/main" spid="4" grpId="10" uiExpand="0" advAuto="indefinite" build="whole" animBg="1"/>
      <p1:bldP xmlns:p1="http://schemas.openxmlformats.org/presentationml/2006/main" spid="13" grpId="11" uiExpand="0" advAuto="indefinite" build="whole" animBg="1"/>
      <p1:bldP xmlns:p1="http://schemas.openxmlformats.org/presentationml/2006/main" spid="14" grpId="12" uiExpand="0" advAuto="indefinite" build="whole" animBg="1"/>
      <p1:bldP xmlns:p1="http://schemas.openxmlformats.org/presentationml/2006/main" spid="10" grpId="13" uiExpand="0" advAuto="indefinite" build="whole" animBg="1"/>
      <p1:bldP xmlns:p1="http://schemas.openxmlformats.org/presentationml/2006/main" spid="11" grpId="14" uiExpand="0" advAuto="indefinite" build="whole" animBg="1"/>
      <p1:bldP xmlns:p1="http://schemas.openxmlformats.org/presentationml/2006/main" spid="16" grpId="15" uiExpand="0" advAuto="indefinite" build="whol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Part.07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CL分析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CL模型特点分析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c9ca2fb7a4de062ed111e0874a1711f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373d5cc42a1530c84b07eb7eb274366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3160" y="2647305"/>
            <a:ext cx="973844" cy="981805"/>
          </a:xfrm>
          <a:prstGeom prst="rect"/>
        </p:spPr>
      </p:pic>
      <p:pic>
        <p:nvPicPr>
          <p:cNvPr id="4" name="Image 2" descr="https://test.web.static.jianzeppt.com/ppt-temp-img/e90cf24f78af78a7cdb5d11fc45461b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8580" y="2251885"/>
            <a:ext cx="981805" cy="973845"/>
          </a:xfrm>
          <a:prstGeom prst="rect"/>
        </p:spPr>
      </p:pic>
      <p:pic>
        <p:nvPicPr>
          <p:cNvPr id="5" name="Image 3" descr="https://test.web.static.jianzeppt.com/ppt-temp-img/196d500561d1d28a80f31dce23d3ead8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8580" y="1276522"/>
            <a:ext cx="981805" cy="973844"/>
          </a:xfrm>
          <a:prstGeom prst="rect"/>
        </p:spPr>
      </p:pic>
      <p:pic>
        <p:nvPicPr>
          <p:cNvPr id="6" name="Image 4" descr="https://test.web.static.jianzeppt.com/ppt-temp-img/bb9b8103a7b97f90da2f5cdd5481452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3159" y="873142"/>
            <a:ext cx="973845" cy="981804"/>
          </a:xfrm>
          <a:prstGeom prst="rect"/>
        </p:spPr>
      </p:pic>
      <p:pic>
        <p:nvPicPr>
          <p:cNvPr id="7" name="Image 5" descr="https://test.web.static.jianzeppt.com/ppt-temp-img/ae4aa0e717f74d4a95c36cfabd6d3d41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95768" y="1008145"/>
            <a:ext cx="1868739" cy="28063"/>
          </a:xfrm>
          <a:prstGeom prst="rect"/>
        </p:spPr>
      </p:pic>
      <p:pic>
        <p:nvPicPr>
          <p:cNvPr id="8" name="Image 6" descr="https://test.web.static.jianzeppt.com/ppt-temp-img/a74dc2c49b39648befcf991e77055ea1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050475" y="955377"/>
            <a:ext cx="133597" cy="133597"/>
          </a:xfrm>
          <a:prstGeom prst="rect"/>
        </p:spPr>
      </p:pic>
      <p:pic>
        <p:nvPicPr>
          <p:cNvPr id="9" name="Image 7" descr="https://test.web.static.jianzeppt.com/ppt-temp-img/1a8eb6b745085833cba86df428391dbc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95768" y="3472275"/>
            <a:ext cx="1868739" cy="28063"/>
          </a:xfrm>
          <a:prstGeom prst="rect"/>
        </p:spPr>
      </p:pic>
      <p:pic>
        <p:nvPicPr>
          <p:cNvPr id="10" name="Image 8" descr="https://test.web.static.jianzeppt.com/ppt-temp-img/022b74964484200752855d78d477b33a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050475" y="3419508"/>
            <a:ext cx="133597" cy="133597"/>
          </a:xfrm>
          <a:prstGeom prst="rect"/>
        </p:spPr>
      </p:pic>
      <p:pic>
        <p:nvPicPr>
          <p:cNvPr id="11" name="Image 9" descr="https://test.web.static.jianzeppt.com/ppt-temp-img/68ad1795e330be9464bf9e6f1b8a7bff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848924" y="2650898"/>
            <a:ext cx="1215588" cy="28063"/>
          </a:xfrm>
          <a:prstGeom prst="rect"/>
        </p:spPr>
      </p:pic>
      <p:pic>
        <p:nvPicPr>
          <p:cNvPr id="12" name="Image 10" descr="https://test.web.static.jianzeppt.com/ppt-temp-img/e1c4a5fb6cbdddd78f4982615955bc6e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050475" y="2598131"/>
            <a:ext cx="133597" cy="133597"/>
          </a:xfrm>
          <a:prstGeom prst="rect"/>
        </p:spPr>
      </p:pic>
      <p:pic>
        <p:nvPicPr>
          <p:cNvPr id="13" name="Image 11" descr="https://test.web.static.jianzeppt.com/ppt-temp-img/4df73a82d6256ba8d250e27bdb9d70d5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848910" y="1796122"/>
            <a:ext cx="1215597" cy="28063"/>
          </a:xfrm>
          <a:prstGeom prst="rect"/>
        </p:spPr>
      </p:pic>
      <p:pic>
        <p:nvPicPr>
          <p:cNvPr id="14" name="Image 12" descr="https://test.web.static.jianzeppt.com/ppt-temp-img/27ead59a20cdfbb06dd8ab6363e8a90c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3050475" y="1743354"/>
            <a:ext cx="133597" cy="133597"/>
          </a:xfrm>
          <a:prstGeom prst="rect"/>
        </p:spPr>
      </p:pic>
      <p:sp>
        <p:nvSpPr>
          <p:cNvPr id="15" name="Text 0"/>
          <p:cNvSpPr/>
          <p:nvPr/>
        </p:nvSpPr>
        <p:spPr>
          <a:xfrm>
            <a:off x="846924" y="1196082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36"/>
              </a:lnSpc>
              <a:buNone/>
            </a:pPr>
            <a:r>
              <a:rPr lang="en-US" sz="2030" b="1" dirty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30"/>
          </a:p>
        </p:txBody>
      </p:sp>
      <p:sp>
        <p:nvSpPr>
          <p:cNvPr id="16" name="Text 1"/>
          <p:cNvSpPr/>
          <p:nvPr/>
        </p:nvSpPr>
        <p:spPr>
          <a:xfrm>
            <a:off x="846924" y="3007069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36"/>
              </a:lnSpc>
              <a:buNone/>
            </a:pPr>
            <a:r>
              <a:rPr lang="en-US" sz="20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30"/>
          </a:p>
        </p:txBody>
      </p:sp>
      <p:sp>
        <p:nvSpPr>
          <p:cNvPr id="17" name="Text 2"/>
          <p:cNvSpPr/>
          <p:nvPr/>
        </p:nvSpPr>
        <p:spPr>
          <a:xfrm>
            <a:off x="1381313" y="2480102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36"/>
              </a:lnSpc>
              <a:buNone/>
            </a:pPr>
            <a:r>
              <a:rPr lang="en-US" sz="2030" b="1" dirty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30"/>
          </a:p>
        </p:txBody>
      </p:sp>
      <p:sp>
        <p:nvSpPr>
          <p:cNvPr id="18" name="Text 3"/>
          <p:cNvSpPr/>
          <p:nvPr/>
        </p:nvSpPr>
        <p:spPr>
          <a:xfrm>
            <a:off x="1381313" y="1737894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436"/>
              </a:lnSpc>
              <a:buNone/>
            </a:pPr>
            <a:r>
              <a:rPr lang="en-US" sz="20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30"/>
          </a:p>
        </p:txBody>
      </p:sp>
      <p:sp>
        <p:nvSpPr>
          <p:cNvPr id="19" name="Text 4"/>
          <p:cNvSpPr/>
          <p:nvPr/>
        </p:nvSpPr>
        <p:spPr>
          <a:xfrm>
            <a:off x="3338414" y="2005483"/>
            <a:ext cx="3503232" cy="34662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CL模型的实证优势为金融市场的研究和投资提供了重要的依据，提高了决策的科学性和准确性。</a:t>
            </a:r>
            <a:endParaRPr lang="en-US" sz="1050"/>
          </a:p>
        </p:txBody>
      </p:sp>
      <p:sp>
        <p:nvSpPr>
          <p:cNvPr id="20" name="Text 5"/>
          <p:cNvSpPr/>
          <p:nvPr/>
        </p:nvSpPr>
        <p:spPr>
          <a:xfrm>
            <a:off x="3338414" y="1204542"/>
            <a:ext cx="3503232" cy="34662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CL模型的主要优点是提供行业层面的实证证据。通过大规模样本研究，能了解基金行业整体的择时能力情况。</a:t>
            </a:r>
            <a:endParaRPr lang="en-US" sz="1050"/>
          </a:p>
        </p:txBody>
      </p:sp>
      <p:sp>
        <p:nvSpPr>
          <p:cNvPr id="21" name="Text 6"/>
          <p:cNvSpPr/>
          <p:nvPr/>
        </p:nvSpPr>
        <p:spPr>
          <a:xfrm>
            <a:off x="3337515" y="2566891"/>
            <a:ext cx="3505030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研究意义</a:t>
            </a:r>
            <a:endParaRPr lang="en-US" sz="1200"/>
          </a:p>
        </p:txBody>
      </p:sp>
      <p:sp>
        <p:nvSpPr>
          <p:cNvPr id="22" name="Text 7"/>
          <p:cNvSpPr/>
          <p:nvPr/>
        </p:nvSpPr>
        <p:spPr>
          <a:xfrm>
            <a:off x="3337515" y="3385466"/>
            <a:ext cx="3505030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应用场景</a:t>
            </a:r>
            <a:endParaRPr lang="en-US" sz="1200"/>
          </a:p>
        </p:txBody>
      </p:sp>
      <p:sp>
        <p:nvSpPr>
          <p:cNvPr id="23" name="Text 8"/>
          <p:cNvSpPr/>
          <p:nvPr/>
        </p:nvSpPr>
        <p:spPr>
          <a:xfrm>
            <a:off x="3337515" y="908740"/>
            <a:ext cx="3505030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实证价值</a:t>
            </a:r>
            <a:endParaRPr lang="en-US" sz="1200"/>
          </a:p>
        </p:txBody>
      </p:sp>
      <p:sp>
        <p:nvSpPr>
          <p:cNvPr id="24" name="Text 9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CL优点</a:t>
            </a:r>
            <a:endParaRPr lang="en-US" sz="1600"/>
          </a:p>
        </p:txBody>
      </p:sp>
      <p:sp>
        <p:nvSpPr>
          <p:cNvPr id="25" name="Text 10"/>
          <p:cNvSpPr/>
          <p:nvPr/>
        </p:nvSpPr>
        <p:spPr>
          <a:xfrm>
            <a:off x="3338414" y="2862693"/>
            <a:ext cx="3503232" cy="34662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对于投资者来说，有助于了解行业趋势，做出更合理的投资决策。对于研究者来说，推动了金融实证研究的发展。</a:t>
            </a:r>
            <a:endParaRPr lang="en-US" sz="1050"/>
          </a:p>
        </p:txBody>
      </p:sp>
      <p:sp>
        <p:nvSpPr>
          <p:cNvPr id="26" name="Text 11"/>
          <p:cNvSpPr/>
          <p:nvPr/>
        </p:nvSpPr>
        <p:spPr>
          <a:xfrm>
            <a:off x="3337515" y="1709680"/>
            <a:ext cx="3505030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优势总结</a:t>
            </a:r>
            <a:endParaRPr lang="en-US" sz="1200"/>
          </a:p>
        </p:txBody>
      </p:sp>
      <p:sp>
        <p:nvSpPr>
          <p:cNvPr id="27" name="Text 12"/>
          <p:cNvSpPr/>
          <p:nvPr/>
        </p:nvSpPr>
        <p:spPr>
          <a:xfrm>
            <a:off x="3338414" y="3681269"/>
            <a:ext cx="3503232" cy="34662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5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适用于对基金行业进行宏观分析的场景。例如，评估整个市场的择时能力水平，为政策制定提供参考。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787a6695bfe64b508e5f9a708201c713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2a1f1ac2f40dbea9aa794781d9ca1dd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56989" y="1531570"/>
            <a:ext cx="724942" cy="724942"/>
          </a:xfrm>
          <a:prstGeom prst="rect"/>
        </p:spPr>
      </p:pic>
      <p:pic>
        <p:nvPicPr>
          <p:cNvPr id="4" name="Image 2" descr="https://test.web.static.jianzeppt.com/ppt-temp-img/251ddca8e3f8845f05d5a716ff06ef7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38070" y="1531570"/>
            <a:ext cx="724942" cy="724943"/>
          </a:xfrm>
          <a:prstGeom prst="rect"/>
        </p:spPr>
      </p:pic>
      <p:pic>
        <p:nvPicPr>
          <p:cNvPr id="5" name="Image 3" descr="https://test.web.static.jianzeppt.com/ppt-temp-img/a728d2fd4ced07b41310cd34b43bf3b8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56989" y="2305633"/>
            <a:ext cx="724942" cy="724944"/>
          </a:xfrm>
          <a:prstGeom prst="rect"/>
        </p:spPr>
      </p:pic>
      <p:pic>
        <p:nvPicPr>
          <p:cNvPr id="6" name="Image 4" descr="https://test.web.static.jianzeppt.com/ppt-temp-img/167f570cfaf9d86d1caa0a0416ce650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38069" y="2305634"/>
            <a:ext cx="724943" cy="724942"/>
          </a:xfrm>
          <a:prstGeom prst="rect"/>
        </p:spPr>
      </p:pic>
      <p:sp>
        <p:nvSpPr>
          <p:cNvPr id="7" name="Text 0"/>
          <p:cNvSpPr/>
          <p:nvPr/>
        </p:nvSpPr>
        <p:spPr>
          <a:xfrm>
            <a:off x="3225358" y="2514613"/>
            <a:ext cx="397269" cy="303812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30"/>
          </a:p>
        </p:txBody>
      </p:sp>
      <p:sp>
        <p:nvSpPr>
          <p:cNvPr id="8" name="Text 1"/>
          <p:cNvSpPr/>
          <p:nvPr/>
        </p:nvSpPr>
        <p:spPr>
          <a:xfrm>
            <a:off x="4006520" y="2514613"/>
            <a:ext cx="397269" cy="303812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2030"/>
          </a:p>
        </p:txBody>
      </p:sp>
      <p:sp>
        <p:nvSpPr>
          <p:cNvPr id="9" name="Text 2"/>
          <p:cNvSpPr/>
          <p:nvPr/>
        </p:nvSpPr>
        <p:spPr>
          <a:xfrm>
            <a:off x="3225358" y="1740549"/>
            <a:ext cx="397269" cy="303812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30"/>
          </a:p>
        </p:txBody>
      </p:sp>
      <p:sp>
        <p:nvSpPr>
          <p:cNvPr id="10" name="Text 3"/>
          <p:cNvSpPr/>
          <p:nvPr/>
        </p:nvSpPr>
        <p:spPr>
          <a:xfrm>
            <a:off x="4006520" y="1740549"/>
            <a:ext cx="397269" cy="303812"/>
          </a:xfrm>
          <a:prstGeom prst="rect"/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3045"/>
              </a:lnSpc>
              <a:buNone/>
            </a:pPr>
            <a:r>
              <a:rPr lang="en-US" sz="2030" dirty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30"/>
          </a:p>
        </p:txBody>
      </p:sp>
      <p:sp>
        <p:nvSpPr>
          <p:cNvPr id="11" name="Text 4"/>
          <p:cNvSpPr/>
          <p:nvPr/>
        </p:nvSpPr>
        <p:spPr>
          <a:xfrm>
            <a:off x="4839099" y="1658312"/>
            <a:ext cx="1647601" cy="44559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不能准确反映个别基金的择时能力。对于一些具有特殊策略的基金，可能无法给出有效的评估。</a:t>
            </a:r>
            <a:endParaRPr lang="en-US" sz="900"/>
          </a:p>
        </p:txBody>
      </p:sp>
      <p:sp>
        <p:nvSpPr>
          <p:cNvPr id="12" name="Text 5"/>
          <p:cNvSpPr/>
          <p:nvPr/>
        </p:nvSpPr>
        <p:spPr>
          <a:xfrm>
            <a:off x="1155605" y="1658312"/>
            <a:ext cx="1647601" cy="40853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079"/>
              </a:lnSpc>
              <a:buNone/>
            </a:pPr>
            <a:r>
              <a:rPr lang="en-US" sz="83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CL模型的主要缺点是不提供新的模型，只是HM的应用与统计发现。在理论创新方面有所不足。</a:t>
            </a:r>
            <a:endParaRPr lang="en-US" sz="830"/>
          </a:p>
        </p:txBody>
      </p:sp>
      <p:sp>
        <p:nvSpPr>
          <p:cNvPr id="13" name="Text 6"/>
          <p:cNvSpPr/>
          <p:nvPr/>
        </p:nvSpPr>
        <p:spPr>
          <a:xfrm>
            <a:off x="1153347" y="1446249"/>
            <a:ext cx="1649844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缺乏创新</a:t>
            </a:r>
            <a:endParaRPr lang="en-US" sz="1200"/>
          </a:p>
        </p:txBody>
      </p:sp>
      <p:sp>
        <p:nvSpPr>
          <p:cNvPr id="14" name="Text 7"/>
          <p:cNvSpPr/>
          <p:nvPr/>
        </p:nvSpPr>
        <p:spPr>
          <a:xfrm>
            <a:off x="4825943" y="2470339"/>
            <a:ext cx="1642111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综合考量</a:t>
            </a:r>
            <a:endParaRPr lang="en-US" sz="1200"/>
          </a:p>
        </p:txBody>
      </p:sp>
      <p:sp>
        <p:nvSpPr>
          <p:cNvPr id="15" name="Text 8"/>
          <p:cNvSpPr/>
          <p:nvPr/>
        </p:nvSpPr>
        <p:spPr>
          <a:xfrm>
            <a:off x="4839099" y="2785815"/>
            <a:ext cx="1647601" cy="40853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在使用CL模型时，需要综合考虑其优缺点，结合其他信息进行分析，以提高投资决策的准确性。</a:t>
            </a:r>
            <a:endParaRPr lang="en-US" sz="830"/>
          </a:p>
        </p:txBody>
      </p:sp>
      <p:sp>
        <p:nvSpPr>
          <p:cNvPr id="16" name="Text 9"/>
          <p:cNvSpPr/>
          <p:nvPr/>
        </p:nvSpPr>
        <p:spPr>
          <a:xfrm>
            <a:off x="1155605" y="2785815"/>
            <a:ext cx="1647601" cy="44559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可尝试结合其他模型或方法，增加对个体基金的分析能力。同时，探索新的研究视角和方法。</a:t>
            </a:r>
            <a:endParaRPr lang="en-US" sz="900"/>
          </a:p>
        </p:txBody>
      </p:sp>
      <p:sp>
        <p:nvSpPr>
          <p:cNvPr id="17" name="Text 10"/>
          <p:cNvSpPr/>
          <p:nvPr/>
        </p:nvSpPr>
        <p:spPr>
          <a:xfrm>
            <a:off x="4825943" y="1446249"/>
            <a:ext cx="1649813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个体局限</a:t>
            </a:r>
            <a:endParaRPr lang="en-US" sz="1200"/>
          </a:p>
        </p:txBody>
      </p:sp>
      <p:sp>
        <p:nvSpPr>
          <p:cNvPr id="18" name="Text 11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CL缺点</a:t>
            </a:r>
            <a:endParaRPr lang="en-US" sz="1600"/>
          </a:p>
        </p:txBody>
      </p:sp>
      <p:sp>
        <p:nvSpPr>
          <p:cNvPr id="19" name="Text 12"/>
          <p:cNvSpPr/>
          <p:nvPr/>
        </p:nvSpPr>
        <p:spPr>
          <a:xfrm>
            <a:off x="1161049" y="2470339"/>
            <a:ext cx="1642111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改进方向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9" grpId="1" uiExpand="0" advAuto="indefinite" build="whole" animBg="1"/>
      <p1:bldP xmlns:p1="http://schemas.openxmlformats.org/presentationml/2006/main" spid="13" grpId="2" uiExpand="0" advAuto="indefinite" build="whole" animBg="1"/>
      <p1:bldP xmlns:p1="http://schemas.openxmlformats.org/presentationml/2006/main" spid="12" grpId="3" uiExpand="0" advAuto="indefinite" build="whole" animBg="1"/>
      <p1:bldP xmlns:p1="http://schemas.openxmlformats.org/presentationml/2006/main" spid="4" grpId="4" uiExpand="0" advAuto="indefinite" build="whole" animBg="1"/>
      <p1:bldP xmlns:p1="http://schemas.openxmlformats.org/presentationml/2006/main" spid="10" grpId="5" uiExpand="0" advAuto="indefinite" build="whole" animBg="1"/>
      <p1:bldP xmlns:p1="http://schemas.openxmlformats.org/presentationml/2006/main" spid="17" grpId="6" uiExpand="0" advAuto="indefinite" build="whole" animBg="1"/>
      <p1:bldP xmlns:p1="http://schemas.openxmlformats.org/presentationml/2006/main" spid="11" grpId="7" uiExpand="0" advAuto="indefinite" build="whole" animBg="1"/>
      <p1:bldP xmlns:p1="http://schemas.openxmlformats.org/presentationml/2006/main" spid="5" grpId="8" uiExpand="0" advAuto="indefinite" build="whole" animBg="1"/>
      <p1:bldP xmlns:p1="http://schemas.openxmlformats.org/presentationml/2006/main" spid="7" grpId="9" uiExpand="0" advAuto="indefinite" build="whole" animBg="1"/>
      <p1:bldP xmlns:p1="http://schemas.openxmlformats.org/presentationml/2006/main" spid="19" grpId="10" uiExpand="0" advAuto="indefinite" build="whole" animBg="1"/>
      <p1:bldP xmlns:p1="http://schemas.openxmlformats.org/presentationml/2006/main" spid="16" grpId="11" uiExpand="0" advAuto="indefinite" build="whole" animBg="1"/>
      <p1:bldP xmlns:p1="http://schemas.openxmlformats.org/presentationml/2006/main" spid="6" grpId="12" uiExpand="0" advAuto="indefinite" build="whole" animBg="1"/>
      <p1:bldP xmlns:p1="http://schemas.openxmlformats.org/presentationml/2006/main" spid="8" grpId="13" uiExpand="0" advAuto="indefinite" build="whole" animBg="1"/>
      <p1:bldP xmlns:p1="http://schemas.openxmlformats.org/presentationml/2006/main" spid="14" grpId="14" uiExpand="0" advAuto="indefinite" build="whole" animBg="1"/>
      <p1:bldP xmlns:p1="http://schemas.openxmlformats.org/presentationml/2006/main" spid="15" grpId="15" uiExpand="0" advAuto="indefinite" build="whol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Part.08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实证结论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模型实证研究结果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a412cc3001b4b72c47ddb0ca0c27458f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0656a28491340ae0ed2d9217653e59ba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3396" y="2312919"/>
            <a:ext cx="6805271" cy="18709"/>
          </a:xfrm>
          <a:prstGeom prst="rect"/>
        </p:spPr>
      </p:pic>
      <p:pic>
        <p:nvPicPr>
          <p:cNvPr id="4" name="Image 2" descr="https://test.web.static.jianzeppt.com/ppt-temp-img/9abe4af366ca16ff8a51736813ce87c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1019" y="2279169"/>
            <a:ext cx="86257" cy="86209"/>
          </a:xfrm>
          <a:prstGeom prst="rect"/>
        </p:spPr>
      </p:pic>
      <p:pic>
        <p:nvPicPr>
          <p:cNvPr id="5" name="Image 3" descr="https://test.web.static.jianzeppt.com/ppt-temp-img/94ef3f009fd3dc4f58122973e1fbe3b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1363" y="1665643"/>
            <a:ext cx="285568" cy="298991"/>
          </a:xfrm>
          <a:prstGeom prst="rect"/>
        </p:spPr>
      </p:pic>
      <p:pic>
        <p:nvPicPr>
          <p:cNvPr id="6" name="Image 4" descr="https://test.web.static.jianzeppt.com/ppt-temp-img/6dd8f4d327c01ac9265392e2b0eac92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3055" y="2279169"/>
            <a:ext cx="86257" cy="86209"/>
          </a:xfrm>
          <a:prstGeom prst="rect"/>
        </p:spPr>
      </p:pic>
      <p:pic>
        <p:nvPicPr>
          <p:cNvPr id="7" name="Image 5" descr="https://test.web.static.jianzeppt.com/ppt-temp-img/d5b44091279ad61fbfa889fc0c42c9a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63757" y="1665967"/>
            <a:ext cx="285568" cy="298991"/>
          </a:xfrm>
          <a:prstGeom prst="rect"/>
        </p:spPr>
      </p:pic>
      <p:pic>
        <p:nvPicPr>
          <p:cNvPr id="8" name="Image 6" descr="https://test.web.static.jianzeppt.com/ppt-temp-img/e7c4b0086237af7faf5bfe18a1981959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59152" y="2279169"/>
            <a:ext cx="86257" cy="86209"/>
          </a:xfrm>
          <a:prstGeom prst="rect"/>
        </p:spPr>
      </p:pic>
      <p:pic>
        <p:nvPicPr>
          <p:cNvPr id="9" name="Image 7" descr="https://test.web.static.jianzeppt.com/ppt-temp-img/03d81586ffda5de518fc9ecf63bf42c9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9934" y="1665967"/>
            <a:ext cx="285568" cy="298991"/>
          </a:xfrm>
          <a:prstGeom prst="rect"/>
        </p:spPr>
      </p:pic>
      <p:pic>
        <p:nvPicPr>
          <p:cNvPr id="10" name="Image 8" descr="https://test.web.static.jianzeppt.com/ppt-temp-img/305db721aba1964892c8380fc9e2bce0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767699" y="1665967"/>
            <a:ext cx="285568" cy="298991"/>
          </a:xfrm>
          <a:prstGeom prst="rect"/>
        </p:spPr>
      </p:pic>
      <p:pic>
        <p:nvPicPr>
          <p:cNvPr id="11" name="Image 9" descr="https://test.web.static.jianzeppt.com/ppt-temp-img/9bf113cd7b207ed9681408c44d64ea46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850459" y="2260382"/>
            <a:ext cx="119491" cy="119515"/>
          </a:xfrm>
          <a:prstGeom prst="rect"/>
        </p:spPr>
      </p:pic>
      <p:sp>
        <p:nvSpPr>
          <p:cNvPr id="12" name="Text 0"/>
          <p:cNvSpPr/>
          <p:nvPr/>
        </p:nvSpPr>
        <p:spPr>
          <a:xfrm>
            <a:off x="470984" y="2687154"/>
            <a:ext cx="1295492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HM结论</a:t>
            </a:r>
            <a:endParaRPr lang="en-US" sz="1200"/>
          </a:p>
        </p:txBody>
      </p:sp>
      <p:sp>
        <p:nvSpPr>
          <p:cNvPr id="13" name="Text 1"/>
          <p:cNvSpPr/>
          <p:nvPr/>
        </p:nvSpPr>
        <p:spPr>
          <a:xfrm>
            <a:off x="5859089" y="2687154"/>
            <a:ext cx="1295492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结论意义</a:t>
            </a:r>
            <a:endParaRPr lang="en-US" sz="1200"/>
          </a:p>
        </p:txBody>
      </p:sp>
      <p:sp>
        <p:nvSpPr>
          <p:cNvPr id="14" name="Text 2"/>
          <p:cNvSpPr/>
          <p:nvPr/>
        </p:nvSpPr>
        <p:spPr>
          <a:xfrm>
            <a:off x="2272148" y="2911630"/>
            <a:ext cx="1295492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对于TM模型，多数共同基金的γ值也不显著或为负，说明基金收益曲线的凸性不明显，平滑式择时能力较弱。</a:t>
            </a:r>
            <a:endParaRPr lang="en-US" sz="1050"/>
          </a:p>
        </p:txBody>
      </p:sp>
      <p:sp>
        <p:nvSpPr>
          <p:cNvPr id="15" name="Text 3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共同基金</a:t>
            </a:r>
            <a:endParaRPr lang="en-US" sz="1600"/>
          </a:p>
        </p:txBody>
      </p:sp>
      <p:sp>
        <p:nvSpPr>
          <p:cNvPr id="16" name="Text 4"/>
          <p:cNvSpPr/>
          <p:nvPr/>
        </p:nvSpPr>
        <p:spPr>
          <a:xfrm>
            <a:off x="2267029" y="2687154"/>
            <a:ext cx="1295492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TM结论</a:t>
            </a:r>
            <a:endParaRPr lang="en-US" sz="1200"/>
          </a:p>
        </p:txBody>
      </p:sp>
      <p:sp>
        <p:nvSpPr>
          <p:cNvPr id="17" name="Text 5"/>
          <p:cNvSpPr/>
          <p:nvPr/>
        </p:nvSpPr>
        <p:spPr>
          <a:xfrm>
            <a:off x="470984" y="2911630"/>
            <a:ext cx="1295492" cy="103971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170"/>
              </a:lnSpc>
              <a:buNone/>
            </a:pPr>
            <a:r>
              <a:rPr lang="en-US" sz="90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大量研究发现，使用HM模型时，大多数共同基金长期并没有显著的择时能力，β₂往往不显著或为负。这表明基金在市场好坏切换时的调整效果不佳。</a:t>
            </a:r>
            <a:endParaRPr lang="en-US" sz="900"/>
          </a:p>
        </p:txBody>
      </p:sp>
      <p:sp>
        <p:nvSpPr>
          <p:cNvPr id="18" name="Text 6"/>
          <p:cNvSpPr/>
          <p:nvPr/>
        </p:nvSpPr>
        <p:spPr>
          <a:xfrm>
            <a:off x="5874445" y="2911630"/>
            <a:ext cx="1295492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这些实证结论提醒投资者，不能过分依赖基金的择时能力。在投资时，应综合考虑其他因素，如基金的选股能力等。</a:t>
            </a:r>
            <a:endParaRPr lang="en-US" sz="1050"/>
          </a:p>
        </p:txBody>
      </p:sp>
      <p:sp>
        <p:nvSpPr>
          <p:cNvPr id="19" name="Text 7"/>
          <p:cNvSpPr/>
          <p:nvPr/>
        </p:nvSpPr>
        <p:spPr>
          <a:xfrm>
            <a:off x="4073281" y="2911630"/>
            <a:ext cx="1295492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CL模型的实证结论是，在大样本中，大多数基金没有系统性呈现择时行为。这反映了基金行业整体择时能力的不足。</a:t>
            </a:r>
            <a:endParaRPr lang="en-US" sz="1050"/>
          </a:p>
        </p:txBody>
      </p:sp>
      <p:sp>
        <p:nvSpPr>
          <p:cNvPr id="20" name="Text 8"/>
          <p:cNvSpPr/>
          <p:nvPr/>
        </p:nvSpPr>
        <p:spPr>
          <a:xfrm>
            <a:off x="4063044" y="2687154"/>
            <a:ext cx="1295492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CL结论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4" grpId="1" uiExpand="0" advAuto="indefinite" build="whole" animBg="1"/>
      <p1:bldP xmlns:p1="http://schemas.openxmlformats.org/presentationml/2006/main" spid="11" grpId="2" uiExpand="0" advAuto="indefinite" build="whole" animBg="1"/>
      <p1:bldP xmlns:p1="http://schemas.openxmlformats.org/presentationml/2006/main" spid="6" grpId="3" uiExpand="0" advAuto="indefinite" build="whole" animBg="1"/>
      <p1:bldP xmlns:p1="http://schemas.openxmlformats.org/presentationml/2006/main" spid="8" grpId="4" uiExpand="0" advAuto="indefinite" build="whole" animBg="1"/>
      <p1:bldP xmlns:p1="http://schemas.openxmlformats.org/presentationml/2006/main" spid="5" grpId="5" uiExpand="0" advAuto="indefinite" build="whole" animBg="1"/>
      <p1:bldP xmlns:p1="http://schemas.openxmlformats.org/presentationml/2006/main" spid="12" grpId="6" uiExpand="0" advAuto="indefinite" build="whole" animBg="1"/>
      <p1:bldP xmlns:p1="http://schemas.openxmlformats.org/presentationml/2006/main" spid="17" grpId="7" uiExpand="0" advAuto="indefinite" build="whole" animBg="1"/>
      <p1:bldP xmlns:p1="http://schemas.openxmlformats.org/presentationml/2006/main" spid="10" grpId="8" uiExpand="0" advAuto="indefinite" build="whole" animBg="1"/>
      <p1:bldP xmlns:p1="http://schemas.openxmlformats.org/presentationml/2006/main" spid="16" grpId="9" uiExpand="0" advAuto="indefinite" build="whole" animBg="1"/>
      <p1:bldP xmlns:p1="http://schemas.openxmlformats.org/presentationml/2006/main" spid="14" grpId="10" uiExpand="0" advAuto="indefinite" build="whole" animBg="1"/>
      <p1:bldP xmlns:p1="http://schemas.openxmlformats.org/presentationml/2006/main" spid="7" grpId="11" uiExpand="0" advAuto="indefinite" build="whole" animBg="1"/>
      <p1:bldP xmlns:p1="http://schemas.openxmlformats.org/presentationml/2006/main" spid="20" grpId="12" uiExpand="0" advAuto="indefinite" build="whole" animBg="1"/>
      <p1:bldP xmlns:p1="http://schemas.openxmlformats.org/presentationml/2006/main" spid="19" grpId="13" uiExpand="0" advAuto="indefinite" build="whole" animBg="1"/>
      <p1:bldP xmlns:p1="http://schemas.openxmlformats.org/presentationml/2006/main" spid="9" grpId="14" uiExpand="0" advAuto="indefinite" build="whole" animBg="1"/>
      <p1:bldP xmlns:p1="http://schemas.openxmlformats.org/presentationml/2006/main" spid="13" grpId="15" uiExpand="0" advAuto="indefinite" build="whole" animBg="1"/>
      <p1:bldP xmlns:p1="http://schemas.openxmlformats.org/presentationml/2006/main" spid="18" grpId="16" uiExpand="0" advAuto="indefinite" build="whole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da4423b0e5fb5c6a4015557c236aa2d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4fc57defb2f3109f8bd4f641a2a2fbd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1" y="2353055"/>
            <a:ext cx="1089679" cy="1089677"/>
          </a:xfrm>
          <a:prstGeom prst="rect"/>
        </p:spPr>
      </p:pic>
      <p:pic>
        <p:nvPicPr>
          <p:cNvPr id="4" name="Image 2" descr="https://test.web.static.jianzeppt.com/ppt-temp-img/fae0f10807a648c2b934cda0535a2ad6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0322" y="2353055"/>
            <a:ext cx="1089677" cy="1089679"/>
          </a:xfrm>
          <a:prstGeom prst="rect"/>
        </p:spPr>
      </p:pic>
      <p:pic>
        <p:nvPicPr>
          <p:cNvPr id="5" name="Image 3" descr="https://test.web.static.jianzeppt.com/ppt-temp-img/413a75bbe8d89589595213fcdd220833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0001" y="1263375"/>
            <a:ext cx="1089678" cy="1089679"/>
          </a:xfrm>
          <a:prstGeom prst="rect"/>
        </p:spPr>
      </p:pic>
      <p:pic>
        <p:nvPicPr>
          <p:cNvPr id="6" name="Image 4" descr="https://test.web.static.jianzeppt.com/ppt-temp-img/3ae0839d961802169bb0771eea6ac008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20321" y="1263375"/>
            <a:ext cx="1089679" cy="1089678"/>
          </a:xfrm>
          <a:prstGeom prst="rect"/>
        </p:spPr>
      </p:pic>
      <p:sp>
        <p:nvSpPr>
          <p:cNvPr id="7" name="Text 0"/>
          <p:cNvSpPr/>
          <p:nvPr/>
        </p:nvSpPr>
        <p:spPr>
          <a:xfrm>
            <a:off x="3119848" y="2774915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076"/>
              </a:lnSpc>
              <a:buNone/>
            </a:pPr>
            <a:r>
              <a:rPr lang="en-US" sz="1730" b="1" dirty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30"/>
          </a:p>
        </p:txBody>
      </p:sp>
      <p:sp>
        <p:nvSpPr>
          <p:cNvPr id="8" name="Text 1"/>
          <p:cNvSpPr/>
          <p:nvPr/>
        </p:nvSpPr>
        <p:spPr>
          <a:xfrm>
            <a:off x="3119848" y="1596196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076"/>
              </a:lnSpc>
              <a:buNone/>
            </a:pPr>
            <a:r>
              <a:rPr lang="en-US" sz="17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30"/>
          </a:p>
        </p:txBody>
      </p:sp>
      <p:sp>
        <p:nvSpPr>
          <p:cNvPr id="9" name="Text 2"/>
          <p:cNvSpPr/>
          <p:nvPr/>
        </p:nvSpPr>
        <p:spPr>
          <a:xfrm>
            <a:off x="4222262" y="2774915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076"/>
              </a:lnSpc>
              <a:buNone/>
            </a:pPr>
            <a:r>
              <a:rPr lang="en-US" sz="1730" b="1" dirty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30"/>
          </a:p>
        </p:txBody>
      </p:sp>
      <p:sp>
        <p:nvSpPr>
          <p:cNvPr id="10" name="Text 3"/>
          <p:cNvSpPr/>
          <p:nvPr/>
        </p:nvSpPr>
        <p:spPr>
          <a:xfrm>
            <a:off x="4222262" y="1596196"/>
            <a:ext cx="287036" cy="335042"/>
          </a:xfrm>
          <a:prstGeom prst="rect"/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2076"/>
              </a:lnSpc>
              <a:buNone/>
            </a:pPr>
            <a:r>
              <a:rPr lang="en-US" sz="1730" b="1" dirty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30"/>
          </a:p>
        </p:txBody>
      </p:sp>
      <p:sp>
        <p:nvSpPr>
          <p:cNvPr id="11" name="Text 4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量化策略</a:t>
            </a:r>
            <a:endParaRPr lang="en-US" sz="1600"/>
          </a:p>
        </p:txBody>
      </p:sp>
      <p:sp>
        <p:nvSpPr>
          <p:cNvPr id="12" name="Text 5"/>
          <p:cNvSpPr/>
          <p:nvPr/>
        </p:nvSpPr>
        <p:spPr>
          <a:xfrm>
            <a:off x="765454" y="1386284"/>
            <a:ext cx="1798216" cy="48287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274"/>
              </a:lnSpc>
              <a:buNone/>
            </a:pPr>
            <a:r>
              <a:rPr lang="en-US" sz="98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对于量化策略，能测出显著正择时是很罕见的。这说明量化策略在市场择时方面也面临挑战。</a:t>
            </a:r>
            <a:endParaRPr lang="en-US" sz="980"/>
          </a:p>
        </p:txBody>
      </p:sp>
      <p:sp>
        <p:nvSpPr>
          <p:cNvPr id="13" name="Text 6"/>
          <p:cNvSpPr/>
          <p:nvPr/>
        </p:nvSpPr>
        <p:spPr>
          <a:xfrm>
            <a:off x="765454" y="3169428"/>
            <a:ext cx="1798215" cy="48287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274"/>
              </a:lnSpc>
              <a:buNone/>
            </a:pPr>
            <a:r>
              <a:rPr lang="en-US" sz="98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量化策略可结合不同的模型，优化择时算法，提高择时能力。同时，加强对市场的分析和预测。</a:t>
            </a:r>
            <a:endParaRPr lang="en-US" sz="980"/>
          </a:p>
        </p:txBody>
      </p:sp>
      <p:sp>
        <p:nvSpPr>
          <p:cNvPr id="14" name="Text 7"/>
          <p:cNvSpPr/>
          <p:nvPr/>
        </p:nvSpPr>
        <p:spPr>
          <a:xfrm>
            <a:off x="5092264" y="2793551"/>
            <a:ext cx="180001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综合建议</a:t>
            </a:r>
            <a:endParaRPr lang="en-US" sz="1200"/>
          </a:p>
        </p:txBody>
      </p:sp>
      <p:sp>
        <p:nvSpPr>
          <p:cNvPr id="15" name="Text 8"/>
          <p:cNvSpPr/>
          <p:nvPr/>
        </p:nvSpPr>
        <p:spPr>
          <a:xfrm>
            <a:off x="764554" y="1010407"/>
            <a:ext cx="180001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择时罕有</a:t>
            </a:r>
            <a:endParaRPr lang="en-US" sz="1200"/>
          </a:p>
        </p:txBody>
      </p:sp>
      <p:sp>
        <p:nvSpPr>
          <p:cNvPr id="16" name="Text 9"/>
          <p:cNvSpPr/>
          <p:nvPr/>
        </p:nvSpPr>
        <p:spPr>
          <a:xfrm>
            <a:off x="5092264" y="1010407"/>
            <a:ext cx="1800016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价值体现</a:t>
            </a:r>
            <a:endParaRPr lang="en-US" sz="1200"/>
          </a:p>
        </p:txBody>
      </p:sp>
      <p:sp>
        <p:nvSpPr>
          <p:cNvPr id="17" name="Text 10"/>
          <p:cNvSpPr/>
          <p:nvPr/>
        </p:nvSpPr>
        <p:spPr>
          <a:xfrm>
            <a:off x="5093164" y="3169428"/>
            <a:ext cx="1798215" cy="40853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79"/>
              </a:lnSpc>
              <a:buNone/>
            </a:pPr>
            <a:r>
              <a:rPr lang="en-US" sz="83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投资者在选择量化策略时，应关注其择时能力和稳定性。同时，要结合自身的风险承受能力和投资目标。</a:t>
            </a:r>
            <a:endParaRPr lang="en-US" sz="830"/>
          </a:p>
        </p:txBody>
      </p:sp>
      <p:sp>
        <p:nvSpPr>
          <p:cNvPr id="18" name="Text 11"/>
          <p:cNvSpPr/>
          <p:nvPr/>
        </p:nvSpPr>
        <p:spPr>
          <a:xfrm>
            <a:off x="764554" y="2793551"/>
            <a:ext cx="1800015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改进方向</a:t>
            </a:r>
            <a:endParaRPr lang="en-US" sz="1200"/>
          </a:p>
        </p:txBody>
      </p:sp>
      <p:sp>
        <p:nvSpPr>
          <p:cNvPr id="19" name="Text 12"/>
          <p:cNvSpPr/>
          <p:nvPr/>
        </p:nvSpPr>
        <p:spPr>
          <a:xfrm>
            <a:off x="5093164" y="1386284"/>
            <a:ext cx="1798216" cy="445591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如果量化策略真的具有显著正择时能力，那将具有很高的价值。它可以在市场波动中获取更好的收益。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819" y="1517332"/>
            <a:ext cx="1787623" cy="296168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2220"/>
              </a:lnSpc>
              <a:buNone/>
            </a:pPr>
            <a:r>
              <a:rPr lang="en-US" sz="1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Part.09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533820" y="1941186"/>
            <a:ext cx="6664423" cy="447675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3420"/>
              </a:lnSpc>
              <a:buNone/>
            </a:pPr>
            <a:r>
              <a:rPr lang="en-US" sz="285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总结对比</a:t>
            </a:r>
            <a:endParaRPr lang="en-US" sz="2850"/>
          </a:p>
        </p:txBody>
      </p:sp>
      <p:sp>
        <p:nvSpPr>
          <p:cNvPr id="4" name="Text 2"/>
          <p:cNvSpPr/>
          <p:nvPr/>
        </p:nvSpPr>
        <p:spPr>
          <a:xfrm>
            <a:off x="533820" y="2576304"/>
            <a:ext cx="3114683" cy="138038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900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模型综合总结对比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/4db89ae682c7ed47db6a37f1cb0bba1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339" y="340004"/>
            <a:ext cx="184441" cy="184441"/>
          </a:xfrm>
          <a:prstGeom prst="rect"/>
        </p:spPr>
      </p:pic>
      <p:pic>
        <p:nvPicPr>
          <p:cNvPr id="3" name="Image 1" descr="https://test.web.static.jianzeppt.com/ppt-temp-img/f576c0313628cb6a9cd443df3f1dc6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0875" y="1362464"/>
            <a:ext cx="950119" cy="950071"/>
          </a:xfrm>
          <a:prstGeom prst="rect"/>
        </p:spPr>
      </p:pic>
      <p:pic>
        <p:nvPicPr>
          <p:cNvPr id="4" name="Image 2" descr="https://test.web.static.jianzeppt.com/ppt-temp-img/5041e1ea40e8cc3540892a470b66a18c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3927" y="1716675"/>
            <a:ext cx="244072" cy="241656"/>
          </a:xfrm>
          <a:prstGeom prst="rect"/>
        </p:spPr>
      </p:pic>
      <p:pic>
        <p:nvPicPr>
          <p:cNvPr id="5" name="Image 3" descr="https://test.web.static.jianzeppt.com/ppt-temp-img/18974ce0c901c2e8c11eb0aee08ad759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29669" y="1362464"/>
            <a:ext cx="950119" cy="950071"/>
          </a:xfrm>
          <a:prstGeom prst="rect"/>
        </p:spPr>
      </p:pic>
      <p:pic>
        <p:nvPicPr>
          <p:cNvPr id="6" name="Image 4" descr="https://test.web.static.jianzeppt.com/ppt-temp-img/f721ce02ef873eacaa37fef01200d34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91427" y="1716668"/>
            <a:ext cx="244072" cy="241656"/>
          </a:xfrm>
          <a:prstGeom prst="rect"/>
        </p:spPr>
      </p:pic>
      <p:pic>
        <p:nvPicPr>
          <p:cNvPr id="7" name="Image 5" descr="https://test.web.static.jianzeppt.com/ppt-temp-img/6658c127b9ecbc14771725a37b124a3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08462" y="1380674"/>
            <a:ext cx="950913" cy="950071"/>
          </a:xfrm>
          <a:prstGeom prst="rect"/>
        </p:spPr>
      </p:pic>
      <p:pic>
        <p:nvPicPr>
          <p:cNvPr id="8" name="Image 6" descr="https://test.web.static.jianzeppt.com/ppt-temp-img/0bf1b1bde251778ede635cbde027a2ec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76605" y="1716668"/>
            <a:ext cx="244072" cy="241656"/>
          </a:xfrm>
          <a:prstGeom prst="rect"/>
        </p:spPr>
      </p:pic>
      <p:pic>
        <p:nvPicPr>
          <p:cNvPr id="9" name="Image 7" descr="https://test.web.static.jianzeppt.com/ppt-temp-img/868962ed483fbc3a05a9dc4b2f3ea977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988050" y="1362463"/>
            <a:ext cx="950119" cy="950071"/>
          </a:xfrm>
          <a:prstGeom prst="rect"/>
        </p:spPr>
      </p:pic>
      <p:pic>
        <p:nvPicPr>
          <p:cNvPr id="10" name="Image 8" descr="https://test.web.static.jianzeppt.com/ppt-temp-img/bef8eb2d04394dba9591bc2d23f9f17f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354007" y="1716686"/>
            <a:ext cx="244072" cy="241656"/>
          </a:xfrm>
          <a:prstGeom prst="rect"/>
        </p:spPr>
      </p:pic>
      <p:sp>
        <p:nvSpPr>
          <p:cNvPr id="11" name="Text 0"/>
          <p:cNvSpPr/>
          <p:nvPr/>
        </p:nvSpPr>
        <p:spPr>
          <a:xfrm>
            <a:off x="469900" y="2408350"/>
            <a:ext cx="134145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模型特点</a:t>
            </a:r>
            <a:endParaRPr lang="en-US" sz="1200"/>
          </a:p>
        </p:txBody>
      </p:sp>
      <p:sp>
        <p:nvSpPr>
          <p:cNvPr id="12" name="Text 1"/>
          <p:cNvSpPr/>
          <p:nvPr/>
        </p:nvSpPr>
        <p:spPr>
          <a:xfrm>
            <a:off x="499609" y="308339"/>
            <a:ext cx="6821507" cy="247650"/>
          </a:xfrm>
          <a:prstGeom prst="rect"/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l">
              <a:lnSpc>
                <a:spcPts val="1920"/>
              </a:lnSpc>
              <a:buNone/>
            </a:pPr>
            <a:r>
              <a:rPr lang="en-US" sz="160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最终总结</a:t>
            </a:r>
            <a:endParaRPr lang="en-US" sz="1600"/>
          </a:p>
        </p:txBody>
      </p:sp>
      <p:sp>
        <p:nvSpPr>
          <p:cNvPr id="13" name="Text 2"/>
          <p:cNvSpPr/>
          <p:nvPr/>
        </p:nvSpPr>
        <p:spPr>
          <a:xfrm>
            <a:off x="4042642" y="2657095"/>
            <a:ext cx="1341458" cy="103986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未来可进一步改进模型，提高其准确性和适用性。同时，探索新的研究方法和视角，推动金融择时理论的发展。</a:t>
            </a:r>
            <a:endParaRPr lang="en-US" sz="1050"/>
          </a:p>
        </p:txBody>
      </p:sp>
      <p:sp>
        <p:nvSpPr>
          <p:cNvPr id="14" name="Text 3"/>
          <p:cNvSpPr/>
          <p:nvPr/>
        </p:nvSpPr>
        <p:spPr>
          <a:xfrm>
            <a:off x="2252353" y="2657095"/>
            <a:ext cx="1341458" cy="13864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投资者可根据市场情况和策略类型选择合适的模型。如市场波动大时，可考虑HM；市场趋势不明显时，TM可能更合适；进行行业研究时，CL是不错的选择。</a:t>
            </a:r>
            <a:endParaRPr lang="en-US" sz="1050"/>
          </a:p>
        </p:txBody>
      </p:sp>
      <p:sp>
        <p:nvSpPr>
          <p:cNvPr id="15" name="Text 4"/>
          <p:cNvSpPr/>
          <p:nvPr/>
        </p:nvSpPr>
        <p:spPr>
          <a:xfrm>
            <a:off x="469900" y="2657095"/>
            <a:ext cx="1341458" cy="1386483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HM模型直观，适用于离散式择时；TM模型能捕捉连续变化，但易受极端点影响；CL模型提供行业实证，但缺乏创新。各模型在不同场景下有不同的优势和局限性。</a:t>
            </a:r>
            <a:endParaRPr lang="en-US" sz="1050"/>
          </a:p>
        </p:txBody>
      </p:sp>
      <p:sp>
        <p:nvSpPr>
          <p:cNvPr id="16" name="Text 5"/>
          <p:cNvSpPr/>
          <p:nvPr/>
        </p:nvSpPr>
        <p:spPr>
          <a:xfrm>
            <a:off x="4032473" y="2408350"/>
            <a:ext cx="134145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研究展望</a:t>
            </a:r>
            <a:endParaRPr lang="en-US" sz="1200"/>
          </a:p>
        </p:txBody>
      </p:sp>
      <p:sp>
        <p:nvSpPr>
          <p:cNvPr id="17" name="Text 6"/>
          <p:cNvSpPr/>
          <p:nvPr/>
        </p:nvSpPr>
        <p:spPr>
          <a:xfrm>
            <a:off x="2247280" y="2408350"/>
            <a:ext cx="134145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应用建议</a:t>
            </a:r>
            <a:endParaRPr lang="en-US" sz="1200"/>
          </a:p>
        </p:txBody>
      </p:sp>
      <p:sp>
        <p:nvSpPr>
          <p:cNvPr id="18" name="Text 7"/>
          <p:cNvSpPr/>
          <p:nvPr/>
        </p:nvSpPr>
        <p:spPr>
          <a:xfrm>
            <a:off x="5809853" y="2408350"/>
            <a:ext cx="1341458" cy="198090"/>
          </a:xfrm>
          <a:prstGeom prst="rect"/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560"/>
              </a:lnSpc>
              <a:buNone/>
            </a:pPr>
            <a:r>
              <a:rPr lang="en-US" sz="1200" b="1" dirty="1">
                <a:solidFill>
                  <a:srgbClr val="000000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综合价值</a:t>
            </a:r>
            <a:endParaRPr lang="en-US" sz="1200"/>
          </a:p>
        </p:txBody>
      </p:sp>
      <p:sp>
        <p:nvSpPr>
          <p:cNvPr id="19" name="Text 8"/>
          <p:cNvSpPr/>
          <p:nvPr/>
        </p:nvSpPr>
        <p:spPr>
          <a:xfrm>
            <a:off x="5825095" y="2657095"/>
            <a:ext cx="1341458" cy="1213172"/>
          </a:xfrm>
          <a:prstGeom prst="rect"/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1365"/>
              </a:lnSpc>
              <a:buNone/>
            </a:pPr>
            <a:r>
              <a:rPr lang="en-US" sz="1050" dirty="1">
                <a:solidFill>
                  <a:srgbClr val="333333"/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这三个模型为金融市场的择时研究提供了重要的工具和方法。它们有助于投资者优化投资策略，提高收益，也为学术研究做出了贡献。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3" grpId="0" uiExpand="0" advAuto="indefinite" build="whole" animBg="1"/>
      <p1:bldP xmlns:p1="http://schemas.openxmlformats.org/presentationml/2006/main" spid="4" grpId="1" uiExpand="0" advAuto="indefinite" build="whole" animBg="1"/>
      <p1:bldP xmlns:p1="http://schemas.openxmlformats.org/presentationml/2006/main" spid="11" grpId="2" uiExpand="0" advAuto="indefinite" build="whole" animBg="1"/>
      <p1:bldP xmlns:p1="http://schemas.openxmlformats.org/presentationml/2006/main" spid="15" grpId="3" uiExpand="0" advAuto="indefinite" build="whole" animBg="1"/>
      <p1:bldP xmlns:p1="http://schemas.openxmlformats.org/presentationml/2006/main" spid="5" grpId="4" uiExpand="0" advAuto="indefinite" build="whole" animBg="1"/>
      <p1:bldP xmlns:p1="http://schemas.openxmlformats.org/presentationml/2006/main" spid="6" grpId="5" uiExpand="0" advAuto="indefinite" build="whole" animBg="1"/>
      <p1:bldP xmlns:p1="http://schemas.openxmlformats.org/presentationml/2006/main" spid="17" grpId="6" uiExpand="0" advAuto="indefinite" build="whole" animBg="1"/>
      <p1:bldP xmlns:p1="http://schemas.openxmlformats.org/presentationml/2006/main" spid="14" grpId="7" uiExpand="0" advAuto="indefinite" build="whole" animBg="1"/>
      <p1:bldP xmlns:p1="http://schemas.openxmlformats.org/presentationml/2006/main" spid="7" grpId="8" uiExpand="0" advAuto="indefinite" build="whole" animBg="1"/>
      <p1:bldP xmlns:p1="http://schemas.openxmlformats.org/presentationml/2006/main" spid="8" grpId="9" uiExpand="0" advAuto="indefinite" build="whole" animBg="1"/>
      <p1:bldP xmlns:p1="http://schemas.openxmlformats.org/presentationml/2006/main" spid="16" grpId="10" uiExpand="0" advAuto="indefinite" build="whole" animBg="1"/>
      <p1:bldP xmlns:p1="http://schemas.openxmlformats.org/presentationml/2006/main" spid="13" grpId="11" uiExpand="0" advAuto="indefinite" build="whole" animBg="1"/>
      <p1:bldP xmlns:p1="http://schemas.openxmlformats.org/presentationml/2006/main" spid="9" grpId="12" uiExpand="0" advAuto="indefinite" build="whole" animBg="1"/>
      <p1:bldP xmlns:p1="http://schemas.openxmlformats.org/presentationml/2006/main" spid="10" grpId="13" uiExpand="0" advAuto="indefinite" build="whole" animBg="1"/>
      <p1:bldP xmlns:p1="http://schemas.openxmlformats.org/presentationml/2006/main" spid="18" grpId="14" uiExpand="0" advAuto="indefinite" build="whole" animBg="1"/>
      <p1:bldP xmlns:p1="http://schemas.openxmlformats.org/presentationml/2006/main" spid="19" grpId="15" uiExpand="0" advAuto="indefinite" build="whole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196" y="794256"/>
            <a:ext cx="3520516" cy="1171575"/>
          </a:xfrm>
          <a:prstGeom prst="rect"/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indent="0" algn="ctr">
              <a:lnSpc>
                <a:spcPts val="4056"/>
              </a:lnSpc>
              <a:buNone/>
            </a:pPr>
            <a:r>
              <a:rPr lang="en-US" sz="3380" dirty="1">
                <a:solidFill>
                  <a:srgbClr val="000000"/>
                </a:solidFill>
                <a:latin typeface="思源黑体-加粗" pitchFamily="34" charset="0"/>
                <a:ea typeface="思源黑体-加粗" pitchFamily="34" charset="-122"/>
                <a:cs typeface="思源黑体-加粗" pitchFamily="34" charset="-120"/>
              </a:rPr>
              <a:t>谢谢观看</a:t>
            </a:r>
            <a:endParaRPr lang="en-US" sz="3380"/>
          </a:p>
        </p:txBody>
      </p:sp>
    </p:spTree>
  </p:cSld>
  <p:clrMapOvr>
    <a:masterClrMapping/>
  </p:clrMapOvr>
  <mc:AlternateContent xmlns:mc="http://schemas.openxmlformats.org/markup-compatibility/2006">
    <mc1:Choice xmlns:p14="http://schemas.microsoft.com/office/powerpoint/2010/main" xmlns:mc1="http://schemas.openxmlformats.org/markup-compatibility/2006" Requires="p14">
      <p:transition xmlns:d4p1="http://schemas.microsoft.com/office/powerpoint/2010/main" d4p1:dur="1000" spd="slow">
        <p:fade/>
      </p:transition>
    </mc1:Choice>
    <mc1:Fallback xmlns:mc1="http://schemas.openxmlformats.org/markup-compatibility/2006">
      <p:transition spd="slow">
        <p:fade/>
      </p:transition>
    </mc1:Fallback>
  </mc:AlternateContent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1:tag xmlns:p1="http://schemas.openxmlformats.org/presentationml/2006/main" name="AS_NET" val="Unix 3.10 unknown"/>
  <p1:tag xmlns:p1="http://schemas.openxmlformats.org/presentationml/2006/main" name="AS_OS" val="Unix 3.10 unknown"/>
  <p1:tag xmlns:p1="http://schemas.openxmlformats.org/presentationml/2006/main" name="AS_RELEASE_DATE" val="2013.12.17"/>
  <p1:tag xmlns:p1="http://schemas.openxmlformats.org/presentationml/2006/main" name="AS_TITLE" val="Spire.Presentation for .NET "/>
  <p1:tag xmlns:p1="http://schemas.openxmlformats.org/presentationml/2006/main" name="AS_VERSION" val="2.1.0.0"/>
</p:tagLst>
</file>

<file path=ppt/theme/theme1.xml><?xml version="1.0" encoding="utf-8"?>
<a:theme xmlns:a="http://schemas.openxmlformats.org/drawingml/2006/main" name="Office Theme">
  <a1:themeElements xmlns:a1="http://schemas.openxmlformats.org/drawingml/2006/main">
    <a2:clrScheme xmlns:a2="http://schemas.openxmlformats.org/drawingml/2006/main" name="Office">
      <a3:dk1 xmlns:a3="http://schemas.openxmlformats.org/drawingml/2006/main">
        <a4:sysClr xmlns:a4="http://schemas.openxmlformats.org/drawingml/2006/main" val="windowText" lastClr="000000"/>
      </a3:dk1>
      <a3:lt1 xmlns:a3="http://schemas.openxmlformats.org/drawingml/2006/main">
        <a4:sysClr xmlns:a4="http://schemas.openxmlformats.org/drawingml/2006/main" val="window" lastClr="FFFFFF"/>
      </a3:lt1>
      <a3:dk2 xmlns:a3="http://schemas.openxmlformats.org/drawingml/2006/main">
        <a4:srgbClr xmlns:a4="http://schemas.openxmlformats.org/drawingml/2006/main" val="44546A"/>
      </a3:dk2>
      <a3:lt2 xmlns:a3="http://schemas.openxmlformats.org/drawingml/2006/main">
        <a4:srgbClr xmlns:a4="http://schemas.openxmlformats.org/drawingml/2006/main" val="E7E6E6"/>
      </a3:lt2>
      <a3:accent1 xmlns:a3="http://schemas.openxmlformats.org/drawingml/2006/main">
        <a4:srgbClr xmlns:a4="http://schemas.openxmlformats.org/drawingml/2006/main" val="4472C4"/>
      </a3:accent1>
      <a3:accent2 xmlns:a3="http://schemas.openxmlformats.org/drawingml/2006/main">
        <a4:srgbClr xmlns:a4="http://schemas.openxmlformats.org/drawingml/2006/main" val="ED7D31"/>
      </a3:accent2>
      <a3:accent3 xmlns:a3="http://schemas.openxmlformats.org/drawingml/2006/main">
        <a4:srgbClr xmlns:a4="http://schemas.openxmlformats.org/drawingml/2006/main" val="A5A5A5"/>
      </a3:accent3>
      <a3:accent4 xmlns:a3="http://schemas.openxmlformats.org/drawingml/2006/main">
        <a4:srgbClr xmlns:a4="http://schemas.openxmlformats.org/drawingml/2006/main" val="FFC000"/>
      </a3:accent4>
      <a3:accent5 xmlns:a3="http://schemas.openxmlformats.org/drawingml/2006/main">
        <a4:srgbClr xmlns:a4="http://schemas.openxmlformats.org/drawingml/2006/main" val="5B9BD5"/>
      </a3:accent5>
      <a3:accent6 xmlns:a3="http://schemas.openxmlformats.org/drawingml/2006/main">
        <a4:srgbClr xmlns:a4="http://schemas.openxmlformats.org/drawingml/2006/main" val="70AD47"/>
      </a3:accent6>
      <a3:hlink xmlns:a3="http://schemas.openxmlformats.org/drawingml/2006/main">
        <a4:srgbClr xmlns:a4="http://schemas.openxmlformats.org/drawingml/2006/main" val="0563C1"/>
      </a3:hlink>
      <a3:folHlink xmlns:a3="http://schemas.openxmlformats.org/drawingml/2006/main">
        <a4:srgbClr xmlns:a4="http://schemas.openxmlformats.org/drawingml/2006/main" val="954F72"/>
      </a3:folHlink>
    </a2:clrScheme>
    <a2:fontScheme xmlns:a2="http://schemas.openxmlformats.org/drawingml/2006/main" name="Office">
      <a3:majorFont xmlns:a3="http://schemas.openxmlformats.org/drawingml/2006/main">
        <a4:latin xmlns:a4="http://schemas.openxmlformats.org/drawingml/2006/main" typeface="Calibri Light" panose="020f0302020204030204"/>
        <a4:ea xmlns:a4="http://schemas.openxmlformats.org/drawingml/2006/main" typeface=""/>
        <a4:cs xmlns:a4="http://schemas.openxmlformats.org/drawingml/2006/main" typeface=""/>
        <a4:font xmlns:a4="http://schemas.openxmlformats.org/drawingml/2006/main" script="Ethi" typeface="Nyala"/>
        <a4:font xmlns:a4="http://schemas.openxmlformats.org/drawingml/2006/main" script="Talu" typeface="Microsoft New Tai Lue"/>
        <a4:font xmlns:a4="http://schemas.openxmlformats.org/drawingml/2006/main" script="Olck" typeface="Nirmala UI"/>
        <a4:font xmlns:a4="http://schemas.openxmlformats.org/drawingml/2006/main" script="Yiii" typeface="Microsoft Yi Baiti"/>
        <a4:font xmlns:a4="http://schemas.openxmlformats.org/drawingml/2006/main" script="Uigh" typeface="Microsoft Uighur"/>
        <a4:font xmlns:a4="http://schemas.openxmlformats.org/drawingml/2006/main" script="Hebr" typeface="Times New Roman"/>
        <a4:font xmlns:a4="http://schemas.openxmlformats.org/drawingml/2006/main" script="Tibt" typeface="Microsoft Himalaya"/>
        <a4:font xmlns:a4="http://schemas.openxmlformats.org/drawingml/2006/main" script="Telu" typeface="Gautami"/>
        <a4:font xmlns:a4="http://schemas.openxmlformats.org/drawingml/2006/main" script="Armn" typeface="Arial"/>
        <a4:font xmlns:a4="http://schemas.openxmlformats.org/drawingml/2006/main" script="Deva" typeface="Mangal"/>
        <a4:font xmlns:a4="http://schemas.openxmlformats.org/drawingml/2006/main" script="Guru" typeface="Raavi"/>
        <a4:font xmlns:a4="http://schemas.openxmlformats.org/drawingml/2006/main" script="Sinh" typeface="Iskoola Pota"/>
        <a4:font xmlns:a4="http://schemas.openxmlformats.org/drawingml/2006/main" script="Phag" typeface="Phagspa"/>
        <a4:font xmlns:a4="http://schemas.openxmlformats.org/drawingml/2006/main" script="Tale" typeface="Microsoft Tai Le"/>
        <a4:font xmlns:a4="http://schemas.openxmlformats.org/drawingml/2006/main" script="Lisu" typeface="Segoe UI"/>
        <a4:font xmlns:a4="http://schemas.openxmlformats.org/drawingml/2006/main" script="Beng" typeface="Vrinda"/>
        <a4:font xmlns:a4="http://schemas.openxmlformats.org/drawingml/2006/main" script="Syrj" typeface="Estrangelo Edessa"/>
        <a4:font xmlns:a4="http://schemas.openxmlformats.org/drawingml/2006/main" script="Syre" typeface="Estrangelo Edessa"/>
        <a4:font xmlns:a4="http://schemas.openxmlformats.org/drawingml/2006/main" script="Syrc" typeface="Estrangelo Edessa"/>
        <a4:font xmlns:a4="http://schemas.openxmlformats.org/drawingml/2006/main" script="Cher" typeface="Plantagenet Cherokee"/>
        <a4:font xmlns:a4="http://schemas.openxmlformats.org/drawingml/2006/main" script="Viet" typeface="Times New Roman"/>
        <a4:font xmlns:a4="http://schemas.openxmlformats.org/drawingml/2006/main" script="Thai" typeface="Angsana New"/>
        <a4:font xmlns:a4="http://schemas.openxmlformats.org/drawingml/2006/main" script="Gujr" typeface="Shruti"/>
        <a4:font xmlns:a4="http://schemas.openxmlformats.org/drawingml/2006/main" script="Mlym" typeface="Kartika"/>
        <a4:font xmlns:a4="http://schemas.openxmlformats.org/drawingml/2006/main" script="Hant" typeface="新細明體"/>
        <a4:font xmlns:a4="http://schemas.openxmlformats.org/drawingml/2006/main" script="Hans" typeface="等线 Light"/>
        <a4:font xmlns:a4="http://schemas.openxmlformats.org/drawingml/2006/main" script="Java" typeface="Javanese Text"/>
        <a4:font xmlns:a4="http://schemas.openxmlformats.org/drawingml/2006/main" script="Thaa" typeface="MV Boli"/>
        <a4:font xmlns:a4="http://schemas.openxmlformats.org/drawingml/2006/main" script="Knda" typeface="Tunga"/>
        <a4:font xmlns:a4="http://schemas.openxmlformats.org/drawingml/2006/main" script="Mymr" typeface="Myanmar Text"/>
        <a4:font xmlns:a4="http://schemas.openxmlformats.org/drawingml/2006/main" script="Laoo" typeface="DokChampa"/>
        <a4:font xmlns:a4="http://schemas.openxmlformats.org/drawingml/2006/main" script="Cans" typeface="Euphemia"/>
        <a4:font xmlns:a4="http://schemas.openxmlformats.org/drawingml/2006/main" script="Hang" typeface="맑은 고딕"/>
        <a4:font xmlns:a4="http://schemas.openxmlformats.org/drawingml/2006/main" script="Sora" typeface="Nirmala UI"/>
        <a4:font xmlns:a4="http://schemas.openxmlformats.org/drawingml/2006/main" script="Tfng" typeface="Ebrima"/>
        <a4:font xmlns:a4="http://schemas.openxmlformats.org/drawingml/2006/main" script="Khmr" typeface="MoolBoran"/>
        <a4:font xmlns:a4="http://schemas.openxmlformats.org/drawingml/2006/main" script="Arab" typeface="Times New Roman"/>
        <a4:font xmlns:a4="http://schemas.openxmlformats.org/drawingml/2006/main" script="Geor" typeface="Sylfaen"/>
        <a4:font xmlns:a4="http://schemas.openxmlformats.org/drawingml/2006/main" script="Bugi" typeface="Leelawadee UI"/>
        <a4:font xmlns:a4="http://schemas.openxmlformats.org/drawingml/2006/main" script="Bopo" typeface="Microsoft JhengHei"/>
        <a4:font xmlns:a4="http://schemas.openxmlformats.org/drawingml/2006/main" script="Jpan" typeface="游ゴシック Light"/>
        <a4:font xmlns:a4="http://schemas.openxmlformats.org/drawingml/2006/main" script="Mong" typeface="Mongolian Baiti"/>
        <a4:font xmlns:a4="http://schemas.openxmlformats.org/drawingml/2006/main" script="Taml" typeface="Latha"/>
        <a4:font xmlns:a4="http://schemas.openxmlformats.org/drawingml/2006/main" script="Orya" typeface="Kalinga"/>
        <a4:font xmlns:a4="http://schemas.openxmlformats.org/drawingml/2006/main" script="Syrn" typeface="Estrangelo Edessa"/>
        <a4:font xmlns:a4="http://schemas.openxmlformats.org/drawingml/2006/main" script="Osma" typeface="Ebrima"/>
        <a4:font xmlns:a4="http://schemas.openxmlformats.org/drawingml/2006/main" script="Nkoo" typeface="Ebrima"/>
      </a3:majorFont>
      <a3:minorFont xmlns:a3="http://schemas.openxmlformats.org/drawingml/2006/main">
        <a4:latin xmlns:a4="http://schemas.openxmlformats.org/drawingml/2006/main" typeface="Calibri" panose="020f0502020204030204"/>
        <a4:ea xmlns:a4="http://schemas.openxmlformats.org/drawingml/2006/main" typeface=""/>
        <a4:cs xmlns:a4="http://schemas.openxmlformats.org/drawingml/2006/main" typeface=""/>
        <a4:font xmlns:a4="http://schemas.openxmlformats.org/drawingml/2006/main" script="Ethi" typeface="Nyala"/>
        <a4:font xmlns:a4="http://schemas.openxmlformats.org/drawingml/2006/main" script="Talu" typeface="Microsoft New Tai Lue"/>
        <a4:font xmlns:a4="http://schemas.openxmlformats.org/drawingml/2006/main" script="Olck" typeface="Nirmala UI"/>
        <a4:font xmlns:a4="http://schemas.openxmlformats.org/drawingml/2006/main" script="Yiii" typeface="Microsoft Yi Baiti"/>
        <a4:font xmlns:a4="http://schemas.openxmlformats.org/drawingml/2006/main" script="Uigh" typeface="Microsoft Uighur"/>
        <a4:font xmlns:a4="http://schemas.openxmlformats.org/drawingml/2006/main" script="Hebr" typeface="Arial"/>
        <a4:font xmlns:a4="http://schemas.openxmlformats.org/drawingml/2006/main" script="Tibt" typeface="Microsoft Himalaya"/>
        <a4:font xmlns:a4="http://schemas.openxmlformats.org/drawingml/2006/main" script="Telu" typeface="Gautami"/>
        <a4:font xmlns:a4="http://schemas.openxmlformats.org/drawingml/2006/main" script="Armn" typeface="Arial"/>
        <a4:font xmlns:a4="http://schemas.openxmlformats.org/drawingml/2006/main" script="Deva" typeface="Mangal"/>
        <a4:font xmlns:a4="http://schemas.openxmlformats.org/drawingml/2006/main" script="Guru" typeface="Raavi"/>
        <a4:font xmlns:a4="http://schemas.openxmlformats.org/drawingml/2006/main" script="Sinh" typeface="Iskoola Pota"/>
        <a4:font xmlns:a4="http://schemas.openxmlformats.org/drawingml/2006/main" script="Phag" typeface="Phagspa"/>
        <a4:font xmlns:a4="http://schemas.openxmlformats.org/drawingml/2006/main" script="Tale" typeface="Microsoft Tai Le"/>
        <a4:font xmlns:a4="http://schemas.openxmlformats.org/drawingml/2006/main" script="Lisu" typeface="Segoe UI"/>
        <a4:font xmlns:a4="http://schemas.openxmlformats.org/drawingml/2006/main" script="Beng" typeface="Vrinda"/>
        <a4:font xmlns:a4="http://schemas.openxmlformats.org/drawingml/2006/main" script="Syrj" typeface="Estrangelo Edessa"/>
        <a4:font xmlns:a4="http://schemas.openxmlformats.org/drawingml/2006/main" script="Syre" typeface="Estrangelo Edessa"/>
        <a4:font xmlns:a4="http://schemas.openxmlformats.org/drawingml/2006/main" script="Syrc" typeface="Estrangelo Edessa"/>
        <a4:font xmlns:a4="http://schemas.openxmlformats.org/drawingml/2006/main" script="Cher" typeface="Plantagenet Cherokee"/>
        <a4:font xmlns:a4="http://schemas.openxmlformats.org/drawingml/2006/main" script="Viet" typeface="Arial"/>
        <a4:font xmlns:a4="http://schemas.openxmlformats.org/drawingml/2006/main" script="Thai" typeface="Cordia New"/>
        <a4:font xmlns:a4="http://schemas.openxmlformats.org/drawingml/2006/main" script="Gujr" typeface="Shruti"/>
        <a4:font xmlns:a4="http://schemas.openxmlformats.org/drawingml/2006/main" script="Mlym" typeface="Kartika"/>
        <a4:font xmlns:a4="http://schemas.openxmlformats.org/drawingml/2006/main" script="Hant" typeface="新細明體"/>
        <a4:font xmlns:a4="http://schemas.openxmlformats.org/drawingml/2006/main" script="Hans" typeface="等线"/>
        <a4:font xmlns:a4="http://schemas.openxmlformats.org/drawingml/2006/main" script="Java" typeface="Javanese Text"/>
        <a4:font xmlns:a4="http://schemas.openxmlformats.org/drawingml/2006/main" script="Thaa" typeface="MV Boli"/>
        <a4:font xmlns:a4="http://schemas.openxmlformats.org/drawingml/2006/main" script="Knda" typeface="Tunga"/>
        <a4:font xmlns:a4="http://schemas.openxmlformats.org/drawingml/2006/main" script="Mymr" typeface="Myanmar Text"/>
        <a4:font xmlns:a4="http://schemas.openxmlformats.org/drawingml/2006/main" script="Laoo" typeface="DokChampa"/>
        <a4:font xmlns:a4="http://schemas.openxmlformats.org/drawingml/2006/main" script="Cans" typeface="Euphemia"/>
        <a4:font xmlns:a4="http://schemas.openxmlformats.org/drawingml/2006/main" script="Hang" typeface="맑은 고딕"/>
        <a4:font xmlns:a4="http://schemas.openxmlformats.org/drawingml/2006/main" script="Sora" typeface="Nirmala UI"/>
        <a4:font xmlns:a4="http://schemas.openxmlformats.org/drawingml/2006/main" script="Tfng" typeface="Ebrima"/>
        <a4:font xmlns:a4="http://schemas.openxmlformats.org/drawingml/2006/main" script="Khmr" typeface="DaunPenh"/>
        <a4:font xmlns:a4="http://schemas.openxmlformats.org/drawingml/2006/main" script="Arab" typeface="Arial"/>
        <a4:font xmlns:a4="http://schemas.openxmlformats.org/drawingml/2006/main" script="Geor" typeface="Sylfaen"/>
        <a4:font xmlns:a4="http://schemas.openxmlformats.org/drawingml/2006/main" script="Bugi" typeface="Leelawadee UI"/>
        <a4:font xmlns:a4="http://schemas.openxmlformats.org/drawingml/2006/main" script="Bopo" typeface="Microsoft JhengHei"/>
        <a4:font xmlns:a4="http://schemas.openxmlformats.org/drawingml/2006/main" script="Jpan" typeface="游ゴシック"/>
        <a4:font xmlns:a4="http://schemas.openxmlformats.org/drawingml/2006/main" script="Mong" typeface="Mongolian Baiti"/>
        <a4:font xmlns:a4="http://schemas.openxmlformats.org/drawingml/2006/main" script="Taml" typeface="Latha"/>
        <a4:font xmlns:a4="http://schemas.openxmlformats.org/drawingml/2006/main" script="Orya" typeface="Kalinga"/>
        <a4:font xmlns:a4="http://schemas.openxmlformats.org/drawingml/2006/main" script="Syrn" typeface="Estrangelo Edessa"/>
        <a4:font xmlns:a4="http://schemas.openxmlformats.org/drawingml/2006/main" script="Osma" typeface="Ebrima"/>
        <a4:font xmlns:a4="http://schemas.openxmlformats.org/drawingml/2006/main" script="Nkoo" typeface="Ebrima"/>
      </a3:minorFont>
    </a2:fontScheme>
    <a2:fmtScheme xmlns:a2="http://schemas.openxmlformats.org/drawingml/2006/main" name="Office">
      <a3:fillStyleLst xmlns:a3="http://schemas.openxmlformats.org/drawingml/2006/main">
        <a4:solidFill xmlns:a4="http://schemas.openxmlformats.org/drawingml/2006/main">
          <a5:schemeClr xmlns:a5="http://schemas.openxmlformats.org/drawingml/2006/main" val="phClr"/>
        </a4:soli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lumMod xmlns:a8="http://schemas.openxmlformats.org/drawingml/2006/main" val="110000"/>
                <a8:satMod xmlns:a8="http://schemas.openxmlformats.org/drawingml/2006/main" val="105000"/>
                <a8:tint xmlns:a8="http://schemas.openxmlformats.org/drawingml/2006/main" val="67000"/>
              </a7:schemeClr>
            </a6:gs>
            <a6:gs xmlns:a6="http://schemas.openxmlformats.org/drawingml/2006/main" pos="50000">
              <a7:schemeClr xmlns:a7="http://schemas.openxmlformats.org/drawingml/2006/main" val="phClr">
                <a8:lumMod xmlns:a8="http://schemas.openxmlformats.org/drawingml/2006/main" val="105000"/>
                <a8:satMod xmlns:a8="http://schemas.openxmlformats.org/drawingml/2006/main" val="103000"/>
                <a8:tint xmlns:a8="http://schemas.openxmlformats.org/drawingml/2006/main" val="73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lumMod xmlns:a8="http://schemas.openxmlformats.org/drawingml/2006/main" val="105000"/>
                <a8:satMod xmlns:a8="http://schemas.openxmlformats.org/drawingml/2006/main" val="109000"/>
                <a8:tint xmlns:a8="http://schemas.openxmlformats.org/drawingml/2006/main" val="81000"/>
              </a7:schemeClr>
            </a6:gs>
          </a5:gsLst>
          <a5:lin xmlns:a5="http://schemas.openxmlformats.org/drawingml/2006/main" ang="5400000" scaled="0"/>
          <a5:tileRect xmlns:a5="http://schemas.openxmlformats.org/drawingml/2006/main"/>
        </a4:gra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satMod xmlns:a8="http://schemas.openxmlformats.org/drawingml/2006/main" val="103000"/>
                <a8:lumMod xmlns:a8="http://schemas.openxmlformats.org/drawingml/2006/main" val="102000"/>
                <a8:tint xmlns:a8="http://schemas.openxmlformats.org/drawingml/2006/main" val="94000"/>
              </a7:schemeClr>
            </a6:gs>
            <a6:gs xmlns:a6="http://schemas.openxmlformats.org/drawingml/2006/main" pos="50000">
              <a7:schemeClr xmlns:a7="http://schemas.openxmlformats.org/drawingml/2006/main" val="phClr">
                <a8:satMod xmlns:a8="http://schemas.openxmlformats.org/drawingml/2006/main" val="110000"/>
                <a8:lumMod xmlns:a8="http://schemas.openxmlformats.org/drawingml/2006/main" val="100000"/>
                <a8:shade xmlns:a8="http://schemas.openxmlformats.org/drawingml/2006/main" val="100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lumMod xmlns:a8="http://schemas.openxmlformats.org/drawingml/2006/main" val="99000"/>
                <a8:satMod xmlns:a8="http://schemas.openxmlformats.org/drawingml/2006/main" val="120000"/>
                <a8:shade xmlns:a8="http://schemas.openxmlformats.org/drawingml/2006/main" val="78000"/>
              </a7:schemeClr>
            </a6:gs>
          </a5:gsLst>
          <a5:lin xmlns:a5="http://schemas.openxmlformats.org/drawingml/2006/main" ang="5400000" scaled="0"/>
          <a5:tileRect xmlns:a5="http://schemas.openxmlformats.org/drawingml/2006/main"/>
        </a4:gradFill>
      </a3:fillStyleLst>
      <a3:lnStyleLst xmlns:a3="http://schemas.openxmlformats.org/drawingml/2006/main">
        <a4:ln xmlns:a4="http://schemas.openxmlformats.org/drawingml/2006/main" w="635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  <a5:miter xmlns:a5="http://schemas.openxmlformats.org/drawingml/2006/main" lim="800000"/>
        </a4:ln>
        <a4:ln xmlns:a4="http://schemas.openxmlformats.org/drawingml/2006/main" w="1270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  <a5:miter xmlns:a5="http://schemas.openxmlformats.org/drawingml/2006/main" lim="800000"/>
        </a4:ln>
        <a4:ln xmlns:a4="http://schemas.openxmlformats.org/drawingml/2006/main" w="1905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  <a5:miter xmlns:a5="http://schemas.openxmlformats.org/drawingml/2006/main" lim="800000"/>
        </a4:ln>
      </a3:lnStyleLst>
      <a3:effectStyleLst xmlns:a3="http://schemas.openxmlformats.org/drawingml/2006/main">
        <a4:effectStyle xmlns:a4="http://schemas.openxmlformats.org/drawingml/2006/main">
          <a5:effectLst xmlns:a5="http://schemas.openxmlformats.org/drawingml/2006/main"/>
        </a4:effectStyle>
        <a4:effectStyle xmlns:a4="http://schemas.openxmlformats.org/drawingml/2006/main">
          <a5:effectLst xmlns:a5="http://schemas.openxmlformats.org/drawingml/2006/main"/>
        </a4:effectStyle>
        <a4:effectStyle xmlns:a4="http://schemas.openxmlformats.org/drawingml/2006/main">
          <a5:effectLst xmlns:a5="http://schemas.openxmlformats.org/drawingml/2006/main">
            <a6:outerShdw xmlns:a6="http://schemas.openxmlformats.org/drawingml/2006/main" blurRad="57150" dir="5400000" dist="19050" algn="ctr" rotWithShape="0">
              <a7:srgbClr xmlns:a7="http://schemas.openxmlformats.org/drawingml/2006/main" val="000000">
                <a8:alpha xmlns:a8="http://schemas.openxmlformats.org/drawingml/2006/main" val="63000"/>
              </a7:srgbClr>
            </a6:outerShdw>
          </a5:effectLst>
        </a4:effectStyle>
      </a3:effectStyleLst>
      <a3:bgFillStyleLst xmlns:a3="http://schemas.openxmlformats.org/drawingml/2006/main">
        <a4:solidFill xmlns:a4="http://schemas.openxmlformats.org/drawingml/2006/main">
          <a5:schemeClr xmlns:a5="http://schemas.openxmlformats.org/drawingml/2006/main" val="phClr"/>
        </a4:solidFill>
        <a4:solidFill xmlns:a4="http://schemas.openxmlformats.org/drawingml/2006/main">
          <a5:schemeClr xmlns:a5="http://schemas.openxmlformats.org/drawingml/2006/main" val="phClr">
            <a6:tint xmlns:a6="http://schemas.openxmlformats.org/drawingml/2006/main" val="95000"/>
            <a6:satMod xmlns:a6="http://schemas.openxmlformats.org/drawingml/2006/main" val="170000"/>
          </a5:schemeClr>
        </a4:soli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tint xmlns:a8="http://schemas.openxmlformats.org/drawingml/2006/main" val="93000"/>
                <a8:satMod xmlns:a8="http://schemas.openxmlformats.org/drawingml/2006/main" val="150000"/>
                <a8:shade xmlns:a8="http://schemas.openxmlformats.org/drawingml/2006/main" val="98000"/>
                <a8:lumMod xmlns:a8="http://schemas.openxmlformats.org/drawingml/2006/main" val="102000"/>
              </a7:schemeClr>
            </a6:gs>
            <a6:gs xmlns:a6="http://schemas.openxmlformats.org/drawingml/2006/main" pos="50000">
              <a7:schemeClr xmlns:a7="http://schemas.openxmlformats.org/drawingml/2006/main" val="phClr">
                <a8:tint xmlns:a8="http://schemas.openxmlformats.org/drawingml/2006/main" val="98000"/>
                <a8:satMod xmlns:a8="http://schemas.openxmlformats.org/drawingml/2006/main" val="130000"/>
                <a8:shade xmlns:a8="http://schemas.openxmlformats.org/drawingml/2006/main" val="90000"/>
                <a8:lumMod xmlns:a8="http://schemas.openxmlformats.org/drawingml/2006/main" val="103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shade xmlns:a8="http://schemas.openxmlformats.org/drawingml/2006/main" val="63000"/>
                <a8:satMod xmlns:a8="http://schemas.openxmlformats.org/drawingml/2006/main" val="120000"/>
              </a7:schemeClr>
            </a6:gs>
          </a5:gsLst>
          <a5:lin xmlns:a5="http://schemas.openxmlformats.org/drawingml/2006/main" ang="5400000" scaled="0"/>
          <a5:tileRect xmlns:a5="http://schemas.openxmlformats.org/drawingml/2006/main"/>
        </a4:gradFill>
      </a3:bgFillStyleLst>
    </a2:fmtScheme>
  </a1:themeElements>
  <a:objectDefaults/>
</a:theme>
</file>

<file path=ppt/theme/theme2.xml><?xml version="1.0" encoding="utf-8"?>
<a:theme xmlns:a="http://schemas.openxmlformats.org/drawingml/2006/main" name="Office Theme">
  <a1:themeElements xmlns:a1="http://schemas.openxmlformats.org/drawingml/2006/main">
    <a2:clrScheme xmlns:a2="http://schemas.openxmlformats.org/drawingml/2006/main" name="Office">
      <a3:dk1 xmlns:a3="http://schemas.openxmlformats.org/drawingml/2006/main">
        <a4:sysClr xmlns:a4="http://schemas.openxmlformats.org/drawingml/2006/main" val="windowText" lastClr="000000"/>
      </a3:dk1>
      <a3:lt1 xmlns:a3="http://schemas.openxmlformats.org/drawingml/2006/main">
        <a4:sysClr xmlns:a4="http://schemas.openxmlformats.org/drawingml/2006/main" val="window" lastClr="FFFFFF"/>
      </a3:lt1>
      <a3:dk2 xmlns:a3="http://schemas.openxmlformats.org/drawingml/2006/main">
        <a4:srgbClr xmlns:a4="http://schemas.openxmlformats.org/drawingml/2006/main" val="44546A"/>
      </a3:dk2>
      <a3:lt2 xmlns:a3="http://schemas.openxmlformats.org/drawingml/2006/main">
        <a4:srgbClr xmlns:a4="http://schemas.openxmlformats.org/drawingml/2006/main" val="E7E6E6"/>
      </a3:lt2>
      <a3:accent1 xmlns:a3="http://schemas.openxmlformats.org/drawingml/2006/main">
        <a4:srgbClr xmlns:a4="http://schemas.openxmlformats.org/drawingml/2006/main" val="4472C4"/>
      </a3:accent1>
      <a3:accent2 xmlns:a3="http://schemas.openxmlformats.org/drawingml/2006/main">
        <a4:srgbClr xmlns:a4="http://schemas.openxmlformats.org/drawingml/2006/main" val="ED7D31"/>
      </a3:accent2>
      <a3:accent3 xmlns:a3="http://schemas.openxmlformats.org/drawingml/2006/main">
        <a4:srgbClr xmlns:a4="http://schemas.openxmlformats.org/drawingml/2006/main" val="A5A5A5"/>
      </a3:accent3>
      <a3:accent4 xmlns:a3="http://schemas.openxmlformats.org/drawingml/2006/main">
        <a4:srgbClr xmlns:a4="http://schemas.openxmlformats.org/drawingml/2006/main" val="FFC000"/>
      </a3:accent4>
      <a3:accent5 xmlns:a3="http://schemas.openxmlformats.org/drawingml/2006/main">
        <a4:srgbClr xmlns:a4="http://schemas.openxmlformats.org/drawingml/2006/main" val="5B9BD5"/>
      </a3:accent5>
      <a3:accent6 xmlns:a3="http://schemas.openxmlformats.org/drawingml/2006/main">
        <a4:srgbClr xmlns:a4="http://schemas.openxmlformats.org/drawingml/2006/main" val="70AD47"/>
      </a3:accent6>
      <a3:hlink xmlns:a3="http://schemas.openxmlformats.org/drawingml/2006/main">
        <a4:srgbClr xmlns:a4="http://schemas.openxmlformats.org/drawingml/2006/main" val="0563C1"/>
      </a3:hlink>
      <a3:folHlink xmlns:a3="http://schemas.openxmlformats.org/drawingml/2006/main">
        <a4:srgbClr xmlns:a4="http://schemas.openxmlformats.org/drawingml/2006/main" val="954F72"/>
      </a3:folHlink>
    </a2:clrScheme>
    <a2:fontScheme xmlns:a2="http://schemas.openxmlformats.org/drawingml/2006/main" name="Office">
      <a3:majorFont xmlns:a3="http://schemas.openxmlformats.org/drawingml/2006/main">
        <a4:latin xmlns:a4="http://schemas.openxmlformats.org/drawingml/2006/main" typeface="Calibri Light" panose="020f0302020204030204"/>
        <a4:ea xmlns:a4="http://schemas.openxmlformats.org/drawingml/2006/main" typeface=""/>
        <a4:cs xmlns:a4="http://schemas.openxmlformats.org/drawingml/2006/main" typeface=""/>
        <a4:font xmlns:a4="http://schemas.openxmlformats.org/drawingml/2006/main" script="Ethi" typeface="Nyala"/>
        <a4:font xmlns:a4="http://schemas.openxmlformats.org/drawingml/2006/main" script="Talu" typeface="Microsoft New Tai Lue"/>
        <a4:font xmlns:a4="http://schemas.openxmlformats.org/drawingml/2006/main" script="Olck" typeface="Nirmala UI"/>
        <a4:font xmlns:a4="http://schemas.openxmlformats.org/drawingml/2006/main" script="Yiii" typeface="Microsoft Yi Baiti"/>
        <a4:font xmlns:a4="http://schemas.openxmlformats.org/drawingml/2006/main" script="Uigh" typeface="Microsoft Uighur"/>
        <a4:font xmlns:a4="http://schemas.openxmlformats.org/drawingml/2006/main" script="Hebr" typeface="Times New Roman"/>
        <a4:font xmlns:a4="http://schemas.openxmlformats.org/drawingml/2006/main" script="Tibt" typeface="Microsoft Himalaya"/>
        <a4:font xmlns:a4="http://schemas.openxmlformats.org/drawingml/2006/main" script="Telu" typeface="Gautami"/>
        <a4:font xmlns:a4="http://schemas.openxmlformats.org/drawingml/2006/main" script="Armn" typeface="Arial"/>
        <a4:font xmlns:a4="http://schemas.openxmlformats.org/drawingml/2006/main" script="Deva" typeface="Mangal"/>
        <a4:font xmlns:a4="http://schemas.openxmlformats.org/drawingml/2006/main" script="Guru" typeface="Raavi"/>
        <a4:font xmlns:a4="http://schemas.openxmlformats.org/drawingml/2006/main" script="Sinh" typeface="Iskoola Pota"/>
        <a4:font xmlns:a4="http://schemas.openxmlformats.org/drawingml/2006/main" script="Phag" typeface="Phagspa"/>
        <a4:font xmlns:a4="http://schemas.openxmlformats.org/drawingml/2006/main" script="Tale" typeface="Microsoft Tai Le"/>
        <a4:font xmlns:a4="http://schemas.openxmlformats.org/drawingml/2006/main" script="Lisu" typeface="Segoe UI"/>
        <a4:font xmlns:a4="http://schemas.openxmlformats.org/drawingml/2006/main" script="Beng" typeface="Vrinda"/>
        <a4:font xmlns:a4="http://schemas.openxmlformats.org/drawingml/2006/main" script="Syrj" typeface="Estrangelo Edessa"/>
        <a4:font xmlns:a4="http://schemas.openxmlformats.org/drawingml/2006/main" script="Syre" typeface="Estrangelo Edessa"/>
        <a4:font xmlns:a4="http://schemas.openxmlformats.org/drawingml/2006/main" script="Syrc" typeface="Estrangelo Edessa"/>
        <a4:font xmlns:a4="http://schemas.openxmlformats.org/drawingml/2006/main" script="Cher" typeface="Plantagenet Cherokee"/>
        <a4:font xmlns:a4="http://schemas.openxmlformats.org/drawingml/2006/main" script="Viet" typeface="Times New Roman"/>
        <a4:font xmlns:a4="http://schemas.openxmlformats.org/drawingml/2006/main" script="Thai" typeface="Angsana New"/>
        <a4:font xmlns:a4="http://schemas.openxmlformats.org/drawingml/2006/main" script="Gujr" typeface="Shruti"/>
        <a4:font xmlns:a4="http://schemas.openxmlformats.org/drawingml/2006/main" script="Mlym" typeface="Kartika"/>
        <a4:font xmlns:a4="http://schemas.openxmlformats.org/drawingml/2006/main" script="Hant" typeface="新細明體"/>
        <a4:font xmlns:a4="http://schemas.openxmlformats.org/drawingml/2006/main" script="Hans" typeface="等线 Light"/>
        <a4:font xmlns:a4="http://schemas.openxmlformats.org/drawingml/2006/main" script="Java" typeface="Javanese Text"/>
        <a4:font xmlns:a4="http://schemas.openxmlformats.org/drawingml/2006/main" script="Thaa" typeface="MV Boli"/>
        <a4:font xmlns:a4="http://schemas.openxmlformats.org/drawingml/2006/main" script="Knda" typeface="Tunga"/>
        <a4:font xmlns:a4="http://schemas.openxmlformats.org/drawingml/2006/main" script="Mymr" typeface="Myanmar Text"/>
        <a4:font xmlns:a4="http://schemas.openxmlformats.org/drawingml/2006/main" script="Laoo" typeface="DokChampa"/>
        <a4:font xmlns:a4="http://schemas.openxmlformats.org/drawingml/2006/main" script="Cans" typeface="Euphemia"/>
        <a4:font xmlns:a4="http://schemas.openxmlformats.org/drawingml/2006/main" script="Hang" typeface="맑은 고딕"/>
        <a4:font xmlns:a4="http://schemas.openxmlformats.org/drawingml/2006/main" script="Sora" typeface="Nirmala UI"/>
        <a4:font xmlns:a4="http://schemas.openxmlformats.org/drawingml/2006/main" script="Tfng" typeface="Ebrima"/>
        <a4:font xmlns:a4="http://schemas.openxmlformats.org/drawingml/2006/main" script="Khmr" typeface="MoolBoran"/>
        <a4:font xmlns:a4="http://schemas.openxmlformats.org/drawingml/2006/main" script="Arab" typeface="Times New Roman"/>
        <a4:font xmlns:a4="http://schemas.openxmlformats.org/drawingml/2006/main" script="Geor" typeface="Sylfaen"/>
        <a4:font xmlns:a4="http://schemas.openxmlformats.org/drawingml/2006/main" script="Bugi" typeface="Leelawadee UI"/>
        <a4:font xmlns:a4="http://schemas.openxmlformats.org/drawingml/2006/main" script="Bopo" typeface="Microsoft JhengHei"/>
        <a4:font xmlns:a4="http://schemas.openxmlformats.org/drawingml/2006/main" script="Jpan" typeface="游ゴシック Light"/>
        <a4:font xmlns:a4="http://schemas.openxmlformats.org/drawingml/2006/main" script="Mong" typeface="Mongolian Baiti"/>
        <a4:font xmlns:a4="http://schemas.openxmlformats.org/drawingml/2006/main" script="Taml" typeface="Latha"/>
        <a4:font xmlns:a4="http://schemas.openxmlformats.org/drawingml/2006/main" script="Orya" typeface="Kalinga"/>
        <a4:font xmlns:a4="http://schemas.openxmlformats.org/drawingml/2006/main" script="Syrn" typeface="Estrangelo Edessa"/>
        <a4:font xmlns:a4="http://schemas.openxmlformats.org/drawingml/2006/main" script="Osma" typeface="Ebrima"/>
        <a4:font xmlns:a4="http://schemas.openxmlformats.org/drawingml/2006/main" script="Nkoo" typeface="Ebrima"/>
      </a3:majorFont>
      <a3:minorFont xmlns:a3="http://schemas.openxmlformats.org/drawingml/2006/main">
        <a4:latin xmlns:a4="http://schemas.openxmlformats.org/drawingml/2006/main" typeface="Calibri" panose="020f0502020204030204"/>
        <a4:ea xmlns:a4="http://schemas.openxmlformats.org/drawingml/2006/main" typeface=""/>
        <a4:cs xmlns:a4="http://schemas.openxmlformats.org/drawingml/2006/main" typeface=""/>
        <a4:font xmlns:a4="http://schemas.openxmlformats.org/drawingml/2006/main" script="Ethi" typeface="Nyala"/>
        <a4:font xmlns:a4="http://schemas.openxmlformats.org/drawingml/2006/main" script="Talu" typeface="Microsoft New Tai Lue"/>
        <a4:font xmlns:a4="http://schemas.openxmlformats.org/drawingml/2006/main" script="Olck" typeface="Nirmala UI"/>
        <a4:font xmlns:a4="http://schemas.openxmlformats.org/drawingml/2006/main" script="Yiii" typeface="Microsoft Yi Baiti"/>
        <a4:font xmlns:a4="http://schemas.openxmlformats.org/drawingml/2006/main" script="Uigh" typeface="Microsoft Uighur"/>
        <a4:font xmlns:a4="http://schemas.openxmlformats.org/drawingml/2006/main" script="Hebr" typeface="Arial"/>
        <a4:font xmlns:a4="http://schemas.openxmlformats.org/drawingml/2006/main" script="Tibt" typeface="Microsoft Himalaya"/>
        <a4:font xmlns:a4="http://schemas.openxmlformats.org/drawingml/2006/main" script="Telu" typeface="Gautami"/>
        <a4:font xmlns:a4="http://schemas.openxmlformats.org/drawingml/2006/main" script="Armn" typeface="Arial"/>
        <a4:font xmlns:a4="http://schemas.openxmlformats.org/drawingml/2006/main" script="Deva" typeface="Mangal"/>
        <a4:font xmlns:a4="http://schemas.openxmlformats.org/drawingml/2006/main" script="Guru" typeface="Raavi"/>
        <a4:font xmlns:a4="http://schemas.openxmlformats.org/drawingml/2006/main" script="Sinh" typeface="Iskoola Pota"/>
        <a4:font xmlns:a4="http://schemas.openxmlformats.org/drawingml/2006/main" script="Phag" typeface="Phagspa"/>
        <a4:font xmlns:a4="http://schemas.openxmlformats.org/drawingml/2006/main" script="Tale" typeface="Microsoft Tai Le"/>
        <a4:font xmlns:a4="http://schemas.openxmlformats.org/drawingml/2006/main" script="Lisu" typeface="Segoe UI"/>
        <a4:font xmlns:a4="http://schemas.openxmlformats.org/drawingml/2006/main" script="Beng" typeface="Vrinda"/>
        <a4:font xmlns:a4="http://schemas.openxmlformats.org/drawingml/2006/main" script="Syrj" typeface="Estrangelo Edessa"/>
        <a4:font xmlns:a4="http://schemas.openxmlformats.org/drawingml/2006/main" script="Syre" typeface="Estrangelo Edessa"/>
        <a4:font xmlns:a4="http://schemas.openxmlformats.org/drawingml/2006/main" script="Syrc" typeface="Estrangelo Edessa"/>
        <a4:font xmlns:a4="http://schemas.openxmlformats.org/drawingml/2006/main" script="Cher" typeface="Plantagenet Cherokee"/>
        <a4:font xmlns:a4="http://schemas.openxmlformats.org/drawingml/2006/main" script="Viet" typeface="Arial"/>
        <a4:font xmlns:a4="http://schemas.openxmlformats.org/drawingml/2006/main" script="Thai" typeface="Cordia New"/>
        <a4:font xmlns:a4="http://schemas.openxmlformats.org/drawingml/2006/main" script="Gujr" typeface="Shruti"/>
        <a4:font xmlns:a4="http://schemas.openxmlformats.org/drawingml/2006/main" script="Mlym" typeface="Kartika"/>
        <a4:font xmlns:a4="http://schemas.openxmlformats.org/drawingml/2006/main" script="Hant" typeface="新細明體"/>
        <a4:font xmlns:a4="http://schemas.openxmlformats.org/drawingml/2006/main" script="Hans" typeface="等线"/>
        <a4:font xmlns:a4="http://schemas.openxmlformats.org/drawingml/2006/main" script="Java" typeface="Javanese Text"/>
        <a4:font xmlns:a4="http://schemas.openxmlformats.org/drawingml/2006/main" script="Thaa" typeface="MV Boli"/>
        <a4:font xmlns:a4="http://schemas.openxmlformats.org/drawingml/2006/main" script="Knda" typeface="Tunga"/>
        <a4:font xmlns:a4="http://schemas.openxmlformats.org/drawingml/2006/main" script="Mymr" typeface="Myanmar Text"/>
        <a4:font xmlns:a4="http://schemas.openxmlformats.org/drawingml/2006/main" script="Laoo" typeface="DokChampa"/>
        <a4:font xmlns:a4="http://schemas.openxmlformats.org/drawingml/2006/main" script="Cans" typeface="Euphemia"/>
        <a4:font xmlns:a4="http://schemas.openxmlformats.org/drawingml/2006/main" script="Hang" typeface="맑은 고딕"/>
        <a4:font xmlns:a4="http://schemas.openxmlformats.org/drawingml/2006/main" script="Sora" typeface="Nirmala UI"/>
        <a4:font xmlns:a4="http://schemas.openxmlformats.org/drawingml/2006/main" script="Tfng" typeface="Ebrima"/>
        <a4:font xmlns:a4="http://schemas.openxmlformats.org/drawingml/2006/main" script="Khmr" typeface="DaunPenh"/>
        <a4:font xmlns:a4="http://schemas.openxmlformats.org/drawingml/2006/main" script="Arab" typeface="Arial"/>
        <a4:font xmlns:a4="http://schemas.openxmlformats.org/drawingml/2006/main" script="Geor" typeface="Sylfaen"/>
        <a4:font xmlns:a4="http://schemas.openxmlformats.org/drawingml/2006/main" script="Bugi" typeface="Leelawadee UI"/>
        <a4:font xmlns:a4="http://schemas.openxmlformats.org/drawingml/2006/main" script="Bopo" typeface="Microsoft JhengHei"/>
        <a4:font xmlns:a4="http://schemas.openxmlformats.org/drawingml/2006/main" script="Jpan" typeface="游ゴシック"/>
        <a4:font xmlns:a4="http://schemas.openxmlformats.org/drawingml/2006/main" script="Mong" typeface="Mongolian Baiti"/>
        <a4:font xmlns:a4="http://schemas.openxmlformats.org/drawingml/2006/main" script="Taml" typeface="Latha"/>
        <a4:font xmlns:a4="http://schemas.openxmlformats.org/drawingml/2006/main" script="Orya" typeface="Kalinga"/>
        <a4:font xmlns:a4="http://schemas.openxmlformats.org/drawingml/2006/main" script="Syrn" typeface="Estrangelo Edessa"/>
        <a4:font xmlns:a4="http://schemas.openxmlformats.org/drawingml/2006/main" script="Osma" typeface="Ebrima"/>
        <a4:font xmlns:a4="http://schemas.openxmlformats.org/drawingml/2006/main" script="Nkoo" typeface="Ebrima"/>
      </a3:minorFont>
    </a2:fontScheme>
    <a2:fmtScheme xmlns:a2="http://schemas.openxmlformats.org/drawingml/2006/main" name="Office">
      <a3:fillStyleLst xmlns:a3="http://schemas.openxmlformats.org/drawingml/2006/main">
        <a4:solidFill xmlns:a4="http://schemas.openxmlformats.org/drawingml/2006/main">
          <a5:schemeClr xmlns:a5="http://schemas.openxmlformats.org/drawingml/2006/main" val="phClr"/>
        </a4:soli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lumMod xmlns:a8="http://schemas.openxmlformats.org/drawingml/2006/main" val="110000"/>
                <a8:satMod xmlns:a8="http://schemas.openxmlformats.org/drawingml/2006/main" val="105000"/>
                <a8:tint xmlns:a8="http://schemas.openxmlformats.org/drawingml/2006/main" val="67000"/>
              </a7:schemeClr>
            </a6:gs>
            <a6:gs xmlns:a6="http://schemas.openxmlformats.org/drawingml/2006/main" pos="50000">
              <a7:schemeClr xmlns:a7="http://schemas.openxmlformats.org/drawingml/2006/main" val="phClr">
                <a8:lumMod xmlns:a8="http://schemas.openxmlformats.org/drawingml/2006/main" val="105000"/>
                <a8:satMod xmlns:a8="http://schemas.openxmlformats.org/drawingml/2006/main" val="103000"/>
                <a8:tint xmlns:a8="http://schemas.openxmlformats.org/drawingml/2006/main" val="73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lumMod xmlns:a8="http://schemas.openxmlformats.org/drawingml/2006/main" val="105000"/>
                <a8:satMod xmlns:a8="http://schemas.openxmlformats.org/drawingml/2006/main" val="109000"/>
                <a8:tint xmlns:a8="http://schemas.openxmlformats.org/drawingml/2006/main" val="81000"/>
              </a7:schemeClr>
            </a6:gs>
          </a5:gsLst>
          <a5:lin xmlns:a5="http://schemas.openxmlformats.org/drawingml/2006/main" ang="5400000" scaled="0"/>
          <a5:tileRect xmlns:a5="http://schemas.openxmlformats.org/drawingml/2006/main"/>
        </a4:gra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satMod xmlns:a8="http://schemas.openxmlformats.org/drawingml/2006/main" val="103000"/>
                <a8:lumMod xmlns:a8="http://schemas.openxmlformats.org/drawingml/2006/main" val="102000"/>
                <a8:tint xmlns:a8="http://schemas.openxmlformats.org/drawingml/2006/main" val="94000"/>
              </a7:schemeClr>
            </a6:gs>
            <a6:gs xmlns:a6="http://schemas.openxmlformats.org/drawingml/2006/main" pos="50000">
              <a7:schemeClr xmlns:a7="http://schemas.openxmlformats.org/drawingml/2006/main" val="phClr">
                <a8:satMod xmlns:a8="http://schemas.openxmlformats.org/drawingml/2006/main" val="110000"/>
                <a8:lumMod xmlns:a8="http://schemas.openxmlformats.org/drawingml/2006/main" val="100000"/>
                <a8:shade xmlns:a8="http://schemas.openxmlformats.org/drawingml/2006/main" val="100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lumMod xmlns:a8="http://schemas.openxmlformats.org/drawingml/2006/main" val="99000"/>
                <a8:satMod xmlns:a8="http://schemas.openxmlformats.org/drawingml/2006/main" val="120000"/>
                <a8:shade xmlns:a8="http://schemas.openxmlformats.org/drawingml/2006/main" val="78000"/>
              </a7:schemeClr>
            </a6:gs>
          </a5:gsLst>
          <a5:lin xmlns:a5="http://schemas.openxmlformats.org/drawingml/2006/main" ang="5400000" scaled="0"/>
          <a5:tileRect xmlns:a5="http://schemas.openxmlformats.org/drawingml/2006/main"/>
        </a4:gradFill>
      </a3:fillStyleLst>
      <a3:lnStyleLst xmlns:a3="http://schemas.openxmlformats.org/drawingml/2006/main">
        <a4:ln xmlns:a4="http://schemas.openxmlformats.org/drawingml/2006/main" w="635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  <a5:miter xmlns:a5="http://schemas.openxmlformats.org/drawingml/2006/main" lim="800000"/>
        </a4:ln>
        <a4:ln xmlns:a4="http://schemas.openxmlformats.org/drawingml/2006/main" w="1270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  <a5:miter xmlns:a5="http://schemas.openxmlformats.org/drawingml/2006/main" lim="800000"/>
        </a4:ln>
        <a4:ln xmlns:a4="http://schemas.openxmlformats.org/drawingml/2006/main" w="1905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  <a5:miter xmlns:a5="http://schemas.openxmlformats.org/drawingml/2006/main" lim="800000"/>
        </a4:ln>
      </a3:lnStyleLst>
      <a3:effectStyleLst xmlns:a3="http://schemas.openxmlformats.org/drawingml/2006/main">
        <a4:effectStyle xmlns:a4="http://schemas.openxmlformats.org/drawingml/2006/main">
          <a5:effectLst xmlns:a5="http://schemas.openxmlformats.org/drawingml/2006/main"/>
        </a4:effectStyle>
        <a4:effectStyle xmlns:a4="http://schemas.openxmlformats.org/drawingml/2006/main">
          <a5:effectLst xmlns:a5="http://schemas.openxmlformats.org/drawingml/2006/main"/>
        </a4:effectStyle>
        <a4:effectStyle xmlns:a4="http://schemas.openxmlformats.org/drawingml/2006/main">
          <a5:effectLst xmlns:a5="http://schemas.openxmlformats.org/drawingml/2006/main">
            <a6:outerShdw xmlns:a6="http://schemas.openxmlformats.org/drawingml/2006/main" blurRad="57150" dir="5400000" dist="19050" algn="ctr" rotWithShape="0">
              <a7:srgbClr xmlns:a7="http://schemas.openxmlformats.org/drawingml/2006/main" val="000000">
                <a8:alpha xmlns:a8="http://schemas.openxmlformats.org/drawingml/2006/main" val="63000"/>
              </a7:srgbClr>
            </a6:outerShdw>
          </a5:effectLst>
        </a4:effectStyle>
      </a3:effectStyleLst>
      <a3:bgFillStyleLst xmlns:a3="http://schemas.openxmlformats.org/drawingml/2006/main">
        <a4:solidFill xmlns:a4="http://schemas.openxmlformats.org/drawingml/2006/main">
          <a5:schemeClr xmlns:a5="http://schemas.openxmlformats.org/drawingml/2006/main" val="phClr"/>
        </a4:solidFill>
        <a4:solidFill xmlns:a4="http://schemas.openxmlformats.org/drawingml/2006/main">
          <a5:schemeClr xmlns:a5="http://schemas.openxmlformats.org/drawingml/2006/main" val="phClr">
            <a6:tint xmlns:a6="http://schemas.openxmlformats.org/drawingml/2006/main" val="95000"/>
            <a6:satMod xmlns:a6="http://schemas.openxmlformats.org/drawingml/2006/main" val="170000"/>
          </a5:schemeClr>
        </a4:soli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tint xmlns:a8="http://schemas.openxmlformats.org/drawingml/2006/main" val="93000"/>
                <a8:satMod xmlns:a8="http://schemas.openxmlformats.org/drawingml/2006/main" val="150000"/>
                <a8:shade xmlns:a8="http://schemas.openxmlformats.org/drawingml/2006/main" val="98000"/>
                <a8:lumMod xmlns:a8="http://schemas.openxmlformats.org/drawingml/2006/main" val="102000"/>
              </a7:schemeClr>
            </a6:gs>
            <a6:gs xmlns:a6="http://schemas.openxmlformats.org/drawingml/2006/main" pos="50000">
              <a7:schemeClr xmlns:a7="http://schemas.openxmlformats.org/drawingml/2006/main" val="phClr">
                <a8:tint xmlns:a8="http://schemas.openxmlformats.org/drawingml/2006/main" val="98000"/>
                <a8:satMod xmlns:a8="http://schemas.openxmlformats.org/drawingml/2006/main" val="130000"/>
                <a8:shade xmlns:a8="http://schemas.openxmlformats.org/drawingml/2006/main" val="90000"/>
                <a8:lumMod xmlns:a8="http://schemas.openxmlformats.org/drawingml/2006/main" val="103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shade xmlns:a8="http://schemas.openxmlformats.org/drawingml/2006/main" val="63000"/>
                <a8:satMod xmlns:a8="http://schemas.openxmlformats.org/drawingml/2006/main" val="120000"/>
              </a7:schemeClr>
            </a6:gs>
          </a5:gsLst>
          <a5:lin xmlns:a5="http://schemas.openxmlformats.org/drawingml/2006/main" ang="5400000" scaled="0"/>
          <a5:tileRect xmlns:a5="http://schemas.openxmlformats.org/drawingml/2006/main"/>
        </a4:gradFill>
      </a3:bgFillStyleLst>
    </a2:fmtScheme>
  </a1:themeElements>
  <a:objectDefaults/>
</a:theme>
</file>

<file path=ppt/theme/theme3.xml><?xml version="1.0" encoding="utf-8"?>
<a:theme xmlns:a="http://schemas.openxmlformats.org/drawingml/2006/main" name="Office Theme">
  <a1:themeElements xmlns:a1="http://schemas.openxmlformats.org/drawingml/2006/main">
    <a2:clrScheme xmlns:a2="http://schemas.openxmlformats.org/drawingml/2006/main" name="Office">
      <a3:dk1 xmlns:a3="http://schemas.openxmlformats.org/drawingml/2006/main">
        <a4:sysClr xmlns:a4="http://schemas.openxmlformats.org/drawingml/2006/main" val="windowText" lastClr="000000"/>
      </a3:dk1>
      <a3:lt1 xmlns:a3="http://schemas.openxmlformats.org/drawingml/2006/main">
        <a4:sysClr xmlns:a4="http://schemas.openxmlformats.org/drawingml/2006/main" val="window" lastClr="FFFFFF"/>
      </a3:lt1>
      <a3:dk2 xmlns:a3="http://schemas.openxmlformats.org/drawingml/2006/main">
        <a4:srgbClr xmlns:a4="http://schemas.openxmlformats.org/drawingml/2006/main" val="1F497D"/>
      </a3:dk2>
      <a3:lt2 xmlns:a3="http://schemas.openxmlformats.org/drawingml/2006/main">
        <a4:srgbClr xmlns:a4="http://schemas.openxmlformats.org/drawingml/2006/main" val="EEECE1"/>
      </a3:lt2>
      <a3:accent1 xmlns:a3="http://schemas.openxmlformats.org/drawingml/2006/main">
        <a4:srgbClr xmlns:a4="http://schemas.openxmlformats.org/drawingml/2006/main" val="4F81BD"/>
      </a3:accent1>
      <a3:accent2 xmlns:a3="http://schemas.openxmlformats.org/drawingml/2006/main">
        <a4:srgbClr xmlns:a4="http://schemas.openxmlformats.org/drawingml/2006/main" val="C0504D"/>
      </a3:accent2>
      <a3:accent3 xmlns:a3="http://schemas.openxmlformats.org/drawingml/2006/main">
        <a4:srgbClr xmlns:a4="http://schemas.openxmlformats.org/drawingml/2006/main" val="9BBB59"/>
      </a3:accent3>
      <a3:accent4 xmlns:a3="http://schemas.openxmlformats.org/drawingml/2006/main">
        <a4:srgbClr xmlns:a4="http://schemas.openxmlformats.org/drawingml/2006/main" val="8064A2"/>
      </a3:accent4>
      <a3:accent5 xmlns:a3="http://schemas.openxmlformats.org/drawingml/2006/main">
        <a4:srgbClr xmlns:a4="http://schemas.openxmlformats.org/drawingml/2006/main" val="4BACC6"/>
      </a3:accent5>
      <a3:accent6 xmlns:a3="http://schemas.openxmlformats.org/drawingml/2006/main">
        <a4:srgbClr xmlns:a4="http://schemas.openxmlformats.org/drawingml/2006/main" val="F79646"/>
      </a3:accent6>
      <a3:hlink xmlns:a3="http://schemas.openxmlformats.org/drawingml/2006/main">
        <a4:srgbClr xmlns:a4="http://schemas.openxmlformats.org/drawingml/2006/main" val="0000FF"/>
      </a3:hlink>
      <a3:folHlink xmlns:a3="http://schemas.openxmlformats.org/drawingml/2006/main">
        <a4:srgbClr xmlns:a4="http://schemas.openxmlformats.org/drawingml/2006/main" val="800080"/>
      </a3:folHlink>
    </a2:clrScheme>
    <a2:fontScheme xmlns:a2="http://schemas.openxmlformats.org/drawingml/2006/main" name="Office">
      <a3:majorFont xmlns:a3="http://schemas.openxmlformats.org/drawingml/2006/main">
        <a4:latin xmlns:a4="http://schemas.openxmlformats.org/drawingml/2006/main" typeface="Calibri"/>
        <a4:ea xmlns:a4="http://schemas.openxmlformats.org/drawingml/2006/main" typeface=""/>
        <a4:cs xmlns:a4="http://schemas.openxmlformats.org/drawingml/2006/main" typeface=""/>
        <a4:font xmlns:a4="http://schemas.openxmlformats.org/drawingml/2006/main" script="Orya" typeface="Kalinga"/>
        <a4:font xmlns:a4="http://schemas.openxmlformats.org/drawingml/2006/main" script="Mlym" typeface="Kartika"/>
        <a4:font xmlns:a4="http://schemas.openxmlformats.org/drawingml/2006/main" script="Deva" typeface="Mangal"/>
        <a4:font xmlns:a4="http://schemas.openxmlformats.org/drawingml/2006/main" script="Mong" typeface="Mongolian Baiti"/>
        <a4:font xmlns:a4="http://schemas.openxmlformats.org/drawingml/2006/main" script="Ethi" typeface="Nyala"/>
        <a4:font xmlns:a4="http://schemas.openxmlformats.org/drawingml/2006/main" script="Geor" typeface="Sylfaen"/>
        <a4:font xmlns:a4="http://schemas.openxmlformats.org/drawingml/2006/main" script="Sinh" typeface="Iskoola Pota"/>
        <a4:font xmlns:a4="http://schemas.openxmlformats.org/drawingml/2006/main" script="Taml" typeface="Latha"/>
        <a4:font xmlns:a4="http://schemas.openxmlformats.org/drawingml/2006/main" script="Tibt" typeface="Microsoft Himalaya"/>
        <a4:font xmlns:a4="http://schemas.openxmlformats.org/drawingml/2006/main" script="Gujr" typeface="Shruti"/>
        <a4:font xmlns:a4="http://schemas.openxmlformats.org/drawingml/2006/main" script="Hant" typeface="新細明體"/>
        <a4:font xmlns:a4="http://schemas.openxmlformats.org/drawingml/2006/main" script="Khmr" typeface="MoolBoran"/>
        <a4:font xmlns:a4="http://schemas.openxmlformats.org/drawingml/2006/main" script="Laoo" typeface="DokChampa"/>
        <a4:font xmlns:a4="http://schemas.openxmlformats.org/drawingml/2006/main" script="Cher" typeface="Plantagenet Cherokee"/>
        <a4:font xmlns:a4="http://schemas.openxmlformats.org/drawingml/2006/main" script="Hans" typeface="宋体"/>
        <a4:font xmlns:a4="http://schemas.openxmlformats.org/drawingml/2006/main" script="Hebr" typeface="Times New Roman"/>
        <a4:font xmlns:a4="http://schemas.openxmlformats.org/drawingml/2006/main" script="Uigh" typeface="Microsoft Uighur"/>
        <a4:font xmlns:a4="http://schemas.openxmlformats.org/drawingml/2006/main" script="Guru" typeface="Raavi"/>
        <a4:font xmlns:a4="http://schemas.openxmlformats.org/drawingml/2006/main" script="Cans" typeface="Euphemia"/>
        <a4:font xmlns:a4="http://schemas.openxmlformats.org/drawingml/2006/main" script="Jpan" typeface="ＭＳ Ｐゴシック"/>
        <a4:font xmlns:a4="http://schemas.openxmlformats.org/drawingml/2006/main" script="Arab" typeface="Times New Roman"/>
        <a4:font xmlns:a4="http://schemas.openxmlformats.org/drawingml/2006/main" script="Syrc" typeface="Estrangelo Edessa"/>
        <a4:font xmlns:a4="http://schemas.openxmlformats.org/drawingml/2006/main" script="Hang" typeface="맑은 고딕"/>
        <a4:font xmlns:a4="http://schemas.openxmlformats.org/drawingml/2006/main" script="Viet" typeface="Times New Roman"/>
        <a4:font xmlns:a4="http://schemas.openxmlformats.org/drawingml/2006/main" script="Thai" typeface="Angsana New"/>
        <a4:font xmlns:a4="http://schemas.openxmlformats.org/drawingml/2006/main" script="Yiii" typeface="Microsoft Yi Baiti"/>
        <a4:font xmlns:a4="http://schemas.openxmlformats.org/drawingml/2006/main" script="Thaa" typeface="MV Boli"/>
        <a4:font xmlns:a4="http://schemas.openxmlformats.org/drawingml/2006/main" script="Beng" typeface="Vrinda"/>
        <a4:font xmlns:a4="http://schemas.openxmlformats.org/drawingml/2006/main" script="Telu" typeface="Gautami"/>
        <a4:font xmlns:a4="http://schemas.openxmlformats.org/drawingml/2006/main" script="Knda" typeface="Tunga"/>
      </a3:majorFont>
      <a3:minorFont xmlns:a3="http://schemas.openxmlformats.org/drawingml/2006/main">
        <a4:latin xmlns:a4="http://schemas.openxmlformats.org/drawingml/2006/main" typeface="Calibri"/>
        <a4:ea xmlns:a4="http://schemas.openxmlformats.org/drawingml/2006/main" typeface=""/>
        <a4:cs xmlns:a4="http://schemas.openxmlformats.org/drawingml/2006/main" typeface=""/>
        <a4:font xmlns:a4="http://schemas.openxmlformats.org/drawingml/2006/main" script="Orya" typeface="Kalinga"/>
        <a4:font xmlns:a4="http://schemas.openxmlformats.org/drawingml/2006/main" script="Mlym" typeface="Kartika"/>
        <a4:font xmlns:a4="http://schemas.openxmlformats.org/drawingml/2006/main" script="Deva" typeface="Mangal"/>
        <a4:font xmlns:a4="http://schemas.openxmlformats.org/drawingml/2006/main" script="Mong" typeface="Mongolian Baiti"/>
        <a4:font xmlns:a4="http://schemas.openxmlformats.org/drawingml/2006/main" script="Ethi" typeface="Nyala"/>
        <a4:font xmlns:a4="http://schemas.openxmlformats.org/drawingml/2006/main" script="Geor" typeface="Sylfaen"/>
        <a4:font xmlns:a4="http://schemas.openxmlformats.org/drawingml/2006/main" script="Sinh" typeface="Iskoola Pota"/>
        <a4:font xmlns:a4="http://schemas.openxmlformats.org/drawingml/2006/main" script="Taml" typeface="Latha"/>
        <a4:font xmlns:a4="http://schemas.openxmlformats.org/drawingml/2006/main" script="Tibt" typeface="Microsoft Himalaya"/>
        <a4:font xmlns:a4="http://schemas.openxmlformats.org/drawingml/2006/main" script="Gujr" typeface="Shruti"/>
        <a4:font xmlns:a4="http://schemas.openxmlformats.org/drawingml/2006/main" script="Hant" typeface="新細明體"/>
        <a4:font xmlns:a4="http://schemas.openxmlformats.org/drawingml/2006/main" script="Khmr" typeface="DaunPenh"/>
        <a4:font xmlns:a4="http://schemas.openxmlformats.org/drawingml/2006/main" script="Laoo" typeface="DokChampa"/>
        <a4:font xmlns:a4="http://schemas.openxmlformats.org/drawingml/2006/main" script="Cher" typeface="Plantagenet Cherokee"/>
        <a4:font xmlns:a4="http://schemas.openxmlformats.org/drawingml/2006/main" script="Hans" typeface="宋体"/>
        <a4:font xmlns:a4="http://schemas.openxmlformats.org/drawingml/2006/main" script="Hebr" typeface="Arial"/>
        <a4:font xmlns:a4="http://schemas.openxmlformats.org/drawingml/2006/main" script="Uigh" typeface="Microsoft Uighur"/>
        <a4:font xmlns:a4="http://schemas.openxmlformats.org/drawingml/2006/main" script="Guru" typeface="Raavi"/>
        <a4:font xmlns:a4="http://schemas.openxmlformats.org/drawingml/2006/main" script="Cans" typeface="Euphemia"/>
        <a4:font xmlns:a4="http://schemas.openxmlformats.org/drawingml/2006/main" script="Jpan" typeface="ＭＳ Ｐゴシック"/>
        <a4:font xmlns:a4="http://schemas.openxmlformats.org/drawingml/2006/main" script="Arab" typeface="Arial"/>
        <a4:font xmlns:a4="http://schemas.openxmlformats.org/drawingml/2006/main" script="Syrc" typeface="Estrangelo Edessa"/>
        <a4:font xmlns:a4="http://schemas.openxmlformats.org/drawingml/2006/main" script="Hang" typeface="맑은 고딕"/>
        <a4:font xmlns:a4="http://schemas.openxmlformats.org/drawingml/2006/main" script="Viet" typeface="Arial"/>
        <a4:font xmlns:a4="http://schemas.openxmlformats.org/drawingml/2006/main" script="Thai" typeface="Cordia New"/>
        <a4:font xmlns:a4="http://schemas.openxmlformats.org/drawingml/2006/main" script="Yiii" typeface="Microsoft Yi Baiti"/>
        <a4:font xmlns:a4="http://schemas.openxmlformats.org/drawingml/2006/main" script="Thaa" typeface="MV Boli"/>
        <a4:font xmlns:a4="http://schemas.openxmlformats.org/drawingml/2006/main" script="Beng" typeface="Vrinda"/>
        <a4:font xmlns:a4="http://schemas.openxmlformats.org/drawingml/2006/main" script="Telu" typeface="Gautami"/>
        <a4:font xmlns:a4="http://schemas.openxmlformats.org/drawingml/2006/main" script="Knda" typeface="Tunga"/>
      </a3:minorFont>
    </a2:fontScheme>
    <a2:fmtScheme xmlns:a2="http://schemas.openxmlformats.org/drawingml/2006/main" name="Office">
      <a3:fillStyleLst xmlns:a3="http://schemas.openxmlformats.org/drawingml/2006/main">
        <a4:solidFill xmlns:a4="http://schemas.openxmlformats.org/drawingml/2006/main">
          <a5:schemeClr xmlns:a5="http://schemas.openxmlformats.org/drawingml/2006/main" val="phClr"/>
        </a4:soli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tint xmlns:a8="http://schemas.openxmlformats.org/drawingml/2006/main" val="50000"/>
                <a8:satMod xmlns:a8="http://schemas.openxmlformats.org/drawingml/2006/main" val="300000"/>
              </a7:schemeClr>
            </a6:gs>
            <a6:gs xmlns:a6="http://schemas.openxmlformats.org/drawingml/2006/main" pos="35000">
              <a7:schemeClr xmlns:a7="http://schemas.openxmlformats.org/drawingml/2006/main" val="phClr">
                <a8:tint xmlns:a8="http://schemas.openxmlformats.org/drawingml/2006/main" val="37000"/>
                <a8:satMod xmlns:a8="http://schemas.openxmlformats.org/drawingml/2006/main" val="300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tint xmlns:a8="http://schemas.openxmlformats.org/drawingml/2006/main" val="15000"/>
                <a8:satMod xmlns:a8="http://schemas.openxmlformats.org/drawingml/2006/main" val="350000"/>
              </a7:schemeClr>
            </a6:gs>
          </a5:gsLst>
          <a5:lin xmlns:a5="http://schemas.openxmlformats.org/drawingml/2006/main" ang="16200000" scaled="1"/>
          <a5:tileRect xmlns:a5="http://schemas.openxmlformats.org/drawingml/2006/main"/>
        </a4:gra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shade xmlns:a8="http://schemas.openxmlformats.org/drawingml/2006/main" val="51000"/>
                <a8:satMod xmlns:a8="http://schemas.openxmlformats.org/drawingml/2006/main" val="130000"/>
              </a7:schemeClr>
            </a6:gs>
            <a6:gs xmlns:a6="http://schemas.openxmlformats.org/drawingml/2006/main" pos="80000">
              <a7:schemeClr xmlns:a7="http://schemas.openxmlformats.org/drawingml/2006/main" val="phClr">
                <a8:shade xmlns:a8="http://schemas.openxmlformats.org/drawingml/2006/main" val="93000"/>
                <a8:satMod xmlns:a8="http://schemas.openxmlformats.org/drawingml/2006/main" val="130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shade xmlns:a8="http://schemas.openxmlformats.org/drawingml/2006/main" val="94000"/>
                <a8:satMod xmlns:a8="http://schemas.openxmlformats.org/drawingml/2006/main" val="135000"/>
              </a7:schemeClr>
            </a6:gs>
          </a5:gsLst>
          <a5:lin xmlns:a5="http://schemas.openxmlformats.org/drawingml/2006/main" ang="16200000" scaled="0"/>
          <a5:tileRect xmlns:a5="http://schemas.openxmlformats.org/drawingml/2006/main"/>
        </a4:gradFill>
      </a3:fillStyleLst>
      <a3:lnStyleLst xmlns:a3="http://schemas.openxmlformats.org/drawingml/2006/main">
        <a4:ln xmlns:a4="http://schemas.openxmlformats.org/drawingml/2006/main" w="9525" cap="flat" cmpd="sng" algn="ctr">
          <solidFill xmlns="http://schemas.openxmlformats.org/drawingml/2006/main">
            <a5:schemeClr xmlns:a5="http://schemas.openxmlformats.org/drawingml/2006/main" val="phClr">
              <a6:shade xmlns:a6="http://schemas.openxmlformats.org/drawingml/2006/main" val="95000"/>
              <a6:satMod xmlns:a6="http://schemas.openxmlformats.org/drawingml/2006/main" val="105000"/>
            </a5:schemeClr>
          </solidFill>
          <a5:prstDash xmlns:a5="http://schemas.openxmlformats.org/drawingml/2006/main" val="solid"/>
        </a4:ln>
        <a4:ln xmlns:a4="http://schemas.openxmlformats.org/drawingml/2006/main" w="2540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</a4:ln>
        <a4:ln xmlns:a4="http://schemas.openxmlformats.org/drawingml/2006/main" w="38100" cap="flat" cmpd="sng" algn="ctr">
          <solidFill xmlns="http://schemas.openxmlformats.org/drawingml/2006/main">
            <a5:schemeClr xmlns:a5="http://schemas.openxmlformats.org/drawingml/2006/main" val="phClr"/>
          </solidFill>
          <a5:prstDash xmlns:a5="http://schemas.openxmlformats.org/drawingml/2006/main" val="solid"/>
        </a4:ln>
      </a3:lnStyleLst>
      <a3:effectStyleLst xmlns:a3="http://schemas.openxmlformats.org/drawingml/2006/main">
        <a4:effectStyle xmlns:a4="http://schemas.openxmlformats.org/drawingml/2006/main">
          <a5:effectLst xmlns:a5="http://schemas.openxmlformats.org/drawingml/2006/main">
            <a6:outerShdw xmlns:a6="http://schemas.openxmlformats.org/drawingml/2006/main" blurRad="40000" dir="5400000" dist="20000" rotWithShape="0">
              <a7:srgbClr xmlns:a7="http://schemas.openxmlformats.org/drawingml/2006/main" val="000000">
                <a8:alpha xmlns:a8="http://schemas.openxmlformats.org/drawingml/2006/main" val="38000"/>
              </a7:srgbClr>
            </a6:outerShdw>
          </a5:effectLst>
        </a4:effectStyle>
        <a4:effectStyle xmlns:a4="http://schemas.openxmlformats.org/drawingml/2006/main">
          <a5:effectLst xmlns:a5="http://schemas.openxmlformats.org/drawingml/2006/main">
            <a6:outerShdw xmlns:a6="http://schemas.openxmlformats.org/drawingml/2006/main" blurRad="40000" dir="5400000" dist="23000" rotWithShape="0">
              <a7:srgbClr xmlns:a7="http://schemas.openxmlformats.org/drawingml/2006/main" val="000000">
                <a8:alpha xmlns:a8="http://schemas.openxmlformats.org/drawingml/2006/main" val="35000"/>
              </a7:srgbClr>
            </a6:outerShdw>
          </a5:effectLst>
        </a4:effectStyle>
        <a4:effectStyle xmlns:a4="http://schemas.openxmlformats.org/drawingml/2006/main">
          <a5:effectLst xmlns:a5="http://schemas.openxmlformats.org/drawingml/2006/main">
            <a6:outerShdw xmlns:a6="http://schemas.openxmlformats.org/drawingml/2006/main" blurRad="40000" dir="5400000" dist="23000" rotWithShape="0">
              <a7:srgbClr xmlns:a7="http://schemas.openxmlformats.org/drawingml/2006/main" val="000000">
                <a8:alpha xmlns:a8="http://schemas.openxmlformats.org/drawingml/2006/main" val="35000"/>
              </a7:srgbClr>
            </a6:outerShdw>
          </a5:effectLst>
          <a5:scene3d xmlns:a5="http://schemas.openxmlformats.org/drawingml/2006/main">
            <a6:camera xmlns:a6="http://schemas.openxmlformats.org/drawingml/2006/main" prst="orthographicFront">
              <a7:rot xmlns:a7="http://schemas.openxmlformats.org/drawingml/2006/main" lat="0" lon="0" rev="0"/>
            </a6:camera>
            <a6:lightRig xmlns:a6="http://schemas.openxmlformats.org/drawingml/2006/main" dir="t" rig="threePt">
              <a7:rot xmlns:a7="http://schemas.openxmlformats.org/drawingml/2006/main" lat="0" lon="0" rev="1200000"/>
            </a6:lightRig>
          </a5:scene3d>
          <a5:sp3d xmlns:a5="http://schemas.openxmlformats.org/drawingml/2006/main">
            <a6:bevelT xmlns:a6="http://schemas.openxmlformats.org/drawingml/2006/main" w="63500" h="25400" prst="circle"/>
          </a5:sp3d>
        </a4:effectStyle>
      </a3:effectStyleLst>
      <a3:bgFillStyleLst xmlns:a3="http://schemas.openxmlformats.org/drawingml/2006/main">
        <a4:solidFill xmlns:a4="http://schemas.openxmlformats.org/drawingml/2006/main">
          <a5:schemeClr xmlns:a5="http://schemas.openxmlformats.org/drawingml/2006/main" val="phClr"/>
        </a4:soli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tint xmlns:a8="http://schemas.openxmlformats.org/drawingml/2006/main" val="40000"/>
                <a8:satMod xmlns:a8="http://schemas.openxmlformats.org/drawingml/2006/main" val="350000"/>
              </a7:schemeClr>
            </a6:gs>
            <a6:gs xmlns:a6="http://schemas.openxmlformats.org/drawingml/2006/main" pos="40000">
              <a7:schemeClr xmlns:a7="http://schemas.openxmlformats.org/drawingml/2006/main" val="phClr">
                <a8:tint xmlns:a8="http://schemas.openxmlformats.org/drawingml/2006/main" val="45000"/>
                <a8:shade xmlns:a8="http://schemas.openxmlformats.org/drawingml/2006/main" val="99000"/>
                <a8:satMod xmlns:a8="http://schemas.openxmlformats.org/drawingml/2006/main" val="350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shade xmlns:a8="http://schemas.openxmlformats.org/drawingml/2006/main" val="20000"/>
                <a8:satMod xmlns:a8="http://schemas.openxmlformats.org/drawingml/2006/main" val="255000"/>
              </a7:schemeClr>
            </a6:gs>
          </a5:gsLst>
          <a5:path xmlns:a5="http://schemas.openxmlformats.org/drawingml/2006/main" path="circle">
            <a6:fillToRect xmlns:a6="http://schemas.openxmlformats.org/drawingml/2006/main" l="50000" t="-80000" r="50000" b="180000"/>
          </a5:path>
          <a5:tileRect xmlns:a5="http://schemas.openxmlformats.org/drawingml/2006/main"/>
        </a4:gradFill>
        <a4:gradFill xmlns:a4="http://schemas.openxmlformats.org/drawingml/2006/main" rotWithShape="1">
          <a5:gsLst xmlns:a5="http://schemas.openxmlformats.org/drawingml/2006/main">
            <a6:gs xmlns:a6="http://schemas.openxmlformats.org/drawingml/2006/main" pos="0">
              <a7:schemeClr xmlns:a7="http://schemas.openxmlformats.org/drawingml/2006/main" val="phClr">
                <a8:tint xmlns:a8="http://schemas.openxmlformats.org/drawingml/2006/main" val="80000"/>
                <a8:satMod xmlns:a8="http://schemas.openxmlformats.org/drawingml/2006/main" val="300000"/>
              </a7:schemeClr>
            </a6:gs>
            <a6:gs xmlns:a6="http://schemas.openxmlformats.org/drawingml/2006/main" pos="100000">
              <a7:schemeClr xmlns:a7="http://schemas.openxmlformats.org/drawingml/2006/main" val="phClr">
                <a8:shade xmlns:a8="http://schemas.openxmlformats.org/drawingml/2006/main" val="30000"/>
                <a8:satMod xmlns:a8="http://schemas.openxmlformats.org/drawingml/2006/main" val="200000"/>
              </a7:schemeClr>
            </a6:gs>
          </a5:gsLst>
          <a5:path xmlns:a5="http://schemas.openxmlformats.org/drawingml/2006/main" path="circle">
            <a6:fillToRect xmlns:a6="http://schemas.openxmlformats.org/drawingml/2006/main" l="50000" t="50000" r="50000" b="50000"/>
          </a5:path>
          <a5:tileRect xmlns:a5="http://schemas.openxmlformats.org/drawingml/2006/main"/>
        </a4:gradFill>
      </a3:bgFillStyleLst>
    </a2:fmtScheme>
  </a1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2025-12-04T04:35:52.3580000Z</dcterms:created>
  <dcterms:modified xsi:type="dcterms:W3CDTF">2025-12-04T04:35:52.3580000Z</dcterms:modified>
</cp:coreProperties>
</file>